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2.svg" ContentType="image/svg+xml"/>
  <Override PartName="/ppt/media/image14.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1365" cy="6858000"/>
  <p:notesSz cx="6858000" cy="12191365"/>
  <p:embeddedFontLst>
    <p:embeddedFont>
      <p:font typeface="Crimson Pro SemiBold" pitchFamily="34" charset="0"/>
      <p:bold r:id="rId18"/>
    </p:embeddedFont>
    <p:embeddedFont>
      <p:font typeface="Crimson Pro SemiBold" pitchFamily="34" charset="-122"/>
      <p:bold r:id="rId19"/>
    </p:embeddedFont>
    <p:embeddedFont>
      <p:font typeface="Crimson Pro SemiBold" pitchFamily="34" charset="-120"/>
      <p:bold r:id="rId20"/>
    </p:embeddedFont>
    <p:embeddedFont>
      <p:font typeface="Heebo Bold" pitchFamily="34" charset="0"/>
      <p:bold r:id="rId21"/>
    </p:embeddedFont>
    <p:embeddedFont>
      <p:font typeface="Heebo Bold" pitchFamily="34" charset="-122"/>
      <p:bold r:id="rId22"/>
    </p:embeddedFont>
    <p:embeddedFont>
      <p:font typeface="Heebo Bold" pitchFamily="34" charset="-120"/>
      <p:bold r:id="rId23"/>
    </p:embeddedFont>
    <p:embeddedFont>
      <p:font typeface="Heebo" pitchFamily="34" charset="0"/>
      <p:regular r:id="rId24"/>
    </p:embeddedFont>
    <p:embeddedFont>
      <p:font typeface="Heebo" pitchFamily="34" charset="-122"/>
      <p:regular r:id="rId25"/>
    </p:embeddedFont>
    <p:embeddedFont>
      <p:font typeface="Heebo" pitchFamily="34" charset="-120"/>
      <p:regular r:id="rId26"/>
    </p:embeddedFont>
    <p:embeddedFont>
      <p:font typeface="Calibri" panose="020F0502020204030204" charset="0"/>
      <p:regular r:id="rId27"/>
      <p:bold r:id="rId28"/>
      <p:italic r:id="rId29"/>
      <p:boldItalic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13.fntdata"/><Relationship Id="rId3" Type="http://schemas.openxmlformats.org/officeDocument/2006/relationships/slide" Target="slides/slide1.xml"/><Relationship Id="rId29" Type="http://schemas.openxmlformats.org/officeDocument/2006/relationships/font" Target="fonts/font12.fntdata"/><Relationship Id="rId28" Type="http://schemas.openxmlformats.org/officeDocument/2006/relationships/font" Target="fonts/font11.fntdata"/><Relationship Id="rId27" Type="http://schemas.openxmlformats.org/officeDocument/2006/relationships/font" Target="fonts/font10.fntdata"/><Relationship Id="rId26" Type="http://schemas.openxmlformats.org/officeDocument/2006/relationships/font" Target="fonts/font9.fntdata"/><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p:spPr>
      </p:sp>
      <p:sp>
        <p:nvSpPr>
          <p:cNvPr id="3" name="Shape 1"/>
          <p:cNvSpPr/>
          <p:nvPr/>
        </p:nvSpPr>
        <p:spPr>
          <a:xfrm>
            <a:off x="0" y="0"/>
            <a:ext cx="12191695" cy="68580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0" Type="http://schemas.openxmlformats.org/officeDocument/2006/relationships/notesSlide" Target="../notesSlides/notesSlide6.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4" Type="http://schemas.openxmlformats.org/officeDocument/2006/relationships/notesSlide" Target="../notesSlides/notesSlide8.xml"/><Relationship Id="rId13" Type="http://schemas.openxmlformats.org/officeDocument/2006/relationships/slideLayout" Target="../slideLayouts/slideLayout2.xml"/><Relationship Id="rId12" Type="http://schemas.openxmlformats.org/officeDocument/2006/relationships/image" Target="../media/image32.svg"/><Relationship Id="rId11" Type="http://schemas.openxmlformats.org/officeDocument/2006/relationships/image" Target="../media/image31.png"/><Relationship Id="rId10" Type="http://schemas.openxmlformats.org/officeDocument/2006/relationships/image" Target="../media/image30.svg"/><Relationship Id="rId1"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30313"/>
            <a:ext cx="6296860" cy="1181298"/>
          </a:xfrm>
          <a:prstGeom prst="rect">
            <a:avLst/>
          </a:prstGeom>
          <a:noFill/>
        </p:spPr>
        <p:txBody>
          <a:bodyPr wrap="square" lIns="0" tIns="0" rIns="0" bIns="0" rtlCol="0" anchor="t">
            <a:normAutofit/>
          </a:bodyPr>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AI-Based Disaster Detection System</a:t>
            </a:r>
            <a:endParaRPr lang="en-US" sz="3700" dirty="0"/>
          </a:p>
        </p:txBody>
      </p:sp>
      <p:sp>
        <p:nvSpPr>
          <p:cNvPr id="4" name="Text 1"/>
          <p:cNvSpPr/>
          <p:nvPr/>
        </p:nvSpPr>
        <p:spPr>
          <a:xfrm>
            <a:off x="661475" y="3495080"/>
            <a:ext cx="6296860" cy="1332508"/>
          </a:xfrm>
          <a:prstGeom prst="rect">
            <a:avLst/>
          </a:prstGeom>
          <a:noFill/>
        </p:spPr>
        <p:txBody>
          <a:bodyPr wrap="square" lIns="0" tIns="0" rIns="0" bIns="0" rtlCol="0" anchor="t"/>
          <a:lstStyle/>
          <a:p>
            <a:pPr marL="0" indent="0" algn="l">
              <a:lnSpc>
                <a:spcPct val="133000"/>
              </a:lnSpc>
              <a:spcAft>
                <a:spcPts val="1650"/>
              </a:spcAft>
              <a:buNone/>
            </a:pPr>
            <a:r>
              <a:rPr lang="en-US" sz="1450" b="1" dirty="0">
                <a:solidFill>
                  <a:srgbClr val="4C4C4D"/>
                </a:solidFill>
                <a:latin typeface="Heebo Bold" pitchFamily="34" charset="0"/>
                <a:ea typeface="Heebo Bold" pitchFamily="34" charset="-122"/>
                <a:cs typeface="Heebo Bold" pitchFamily="34" charset="-120"/>
              </a:rPr>
              <a:t>Presented By:</a:t>
            </a:r>
            <a:r>
              <a:rPr lang="en-US" sz="1450" dirty="0">
                <a:solidFill>
                  <a:srgbClr val="4C4C4D"/>
                </a:solidFill>
                <a:latin typeface="Heebo" pitchFamily="34" charset="0"/>
                <a:ea typeface="Heebo" pitchFamily="34" charset="-122"/>
                <a:cs typeface="Heebo" pitchFamily="34" charset="-120"/>
              </a:rPr>
              <a:t> Sanjanaa Sree P</a:t>
            </a:r>
            <a:endParaRPr lang="en-US" sz="1450" dirty="0"/>
          </a:p>
          <a:p>
            <a:pPr marL="0" indent="0" algn="l">
              <a:lnSpc>
                <a:spcPct val="133000"/>
              </a:lnSpc>
              <a:spcAft>
                <a:spcPts val="1650"/>
              </a:spcAft>
              <a:buNone/>
            </a:pPr>
            <a:r>
              <a:rPr lang="en-US" sz="1450" b="1" dirty="0">
                <a:solidFill>
                  <a:srgbClr val="4C4C4D"/>
                </a:solidFill>
                <a:latin typeface="Heebo" pitchFamily="34" charset="0"/>
                <a:ea typeface="Heebo" pitchFamily="34" charset="-122"/>
                <a:cs typeface="Heebo" pitchFamily="34" charset="-120"/>
              </a:rPr>
              <a:t>Reg No. :</a:t>
            </a:r>
            <a:r>
              <a:rPr lang="en-US" sz="1450" dirty="0">
                <a:solidFill>
                  <a:srgbClr val="4C4C4D"/>
                </a:solidFill>
                <a:latin typeface="Heebo" pitchFamily="34" charset="0"/>
                <a:ea typeface="Heebo" pitchFamily="34" charset="-122"/>
                <a:cs typeface="Heebo" pitchFamily="34" charset="-120"/>
              </a:rPr>
              <a:t> 192311454</a:t>
            </a:r>
            <a:endParaRPr lang="en-US" sz="1450" dirty="0"/>
          </a:p>
          <a:p>
            <a:pPr marL="0" indent="0" algn="l">
              <a:lnSpc>
                <a:spcPct val="133000"/>
              </a:lnSpc>
              <a:buNone/>
            </a:pPr>
            <a:r>
              <a:rPr lang="en-US" sz="1450" b="1" dirty="0">
                <a:solidFill>
                  <a:srgbClr val="4C4C4D"/>
                </a:solidFill>
                <a:latin typeface="Heebo Bold" pitchFamily="34" charset="0"/>
                <a:ea typeface="Heebo Bold" pitchFamily="34" charset="-122"/>
                <a:cs typeface="Heebo Bold" pitchFamily="34" charset="-120"/>
              </a:rPr>
              <a:t>B.E. Computer Science and Engineering</a:t>
            </a:r>
            <a:r>
              <a:rPr lang="en-US" sz="1450" dirty="0">
                <a:solidFill>
                  <a:srgbClr val="4C4C4D"/>
                </a:solidFill>
                <a:latin typeface="Heebo" pitchFamily="34" charset="0"/>
                <a:ea typeface="Heebo" pitchFamily="34" charset="-122"/>
                <a:cs typeface="Heebo" pitchFamily="34" charset="-120"/>
              </a:rPr>
              <a:t> </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918666"/>
            <a:ext cx="10868745" cy="590649"/>
          </a:xfrm>
          <a:prstGeom prst="rect">
            <a:avLst/>
          </a:prstGeom>
          <a:noFill/>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What is Disaster Detection?</a:t>
            </a:r>
            <a:endParaRPr lang="en-US" sz="3700" dirty="0"/>
          </a:p>
        </p:txBody>
      </p:sp>
      <p:sp>
        <p:nvSpPr>
          <p:cNvPr id="3" name="Text 1"/>
          <p:cNvSpPr/>
          <p:nvPr/>
        </p:nvSpPr>
        <p:spPr>
          <a:xfrm>
            <a:off x="661475" y="1887339"/>
            <a:ext cx="10868745" cy="907256"/>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Disaster detection is the process of identifying and monitoring events that can cause significant damage to people, infrastructure, and the environment. Traditional monitoring systems often rely on manual observation, whereas AI-based systems can automatically analyze large volumes of data in real time.</a:t>
            </a:r>
            <a:endParaRPr lang="en-US" sz="1450" dirty="0"/>
          </a:p>
        </p:txBody>
      </p:sp>
      <p:sp>
        <p:nvSpPr>
          <p:cNvPr id="4" name="Shape 2"/>
          <p:cNvSpPr/>
          <p:nvPr/>
        </p:nvSpPr>
        <p:spPr>
          <a:xfrm>
            <a:off x="661475" y="3007221"/>
            <a:ext cx="5339820" cy="679648"/>
          </a:xfrm>
          <a:prstGeom prst="roundRect">
            <a:avLst>
              <a:gd name="adj" fmla="val 4172"/>
            </a:avLst>
          </a:prstGeom>
          <a:solidFill>
            <a:srgbClr val="F2EEEE"/>
          </a:solidFill>
        </p:spPr>
      </p:sp>
      <p:sp>
        <p:nvSpPr>
          <p:cNvPr id="5" name="Text 3"/>
          <p:cNvSpPr/>
          <p:nvPr/>
        </p:nvSpPr>
        <p:spPr>
          <a:xfrm>
            <a:off x="850482" y="3196233"/>
            <a:ext cx="4961806" cy="301625"/>
          </a:xfrm>
          <a:prstGeom prst="rect">
            <a:avLst/>
          </a:prstGeom>
          <a:noFill/>
        </p:spPr>
        <p:txBody>
          <a:bodyPr wrap="none" lIns="0" tIns="0" rIns="0" bIns="0" rtlCol="0" anchor="t"/>
          <a:lstStyle/>
          <a:p>
            <a:pPr marL="0" indent="0" algn="l">
              <a:lnSpc>
                <a:spcPct val="104000"/>
              </a:lnSpc>
              <a:buNone/>
            </a:pPr>
            <a:r>
              <a:rPr lang="en-US" sz="1850" dirty="0">
                <a:solidFill>
                  <a:srgbClr val="000000"/>
                </a:solidFill>
                <a:latin typeface="Twemoji Mozilla" pitchFamily="34" charset="0"/>
                <a:ea typeface="Twemoji Mozilla" pitchFamily="34" charset="-122"/>
                <a:cs typeface="Twemoji Mozilla" pitchFamily="34" charset="-120"/>
              </a:rPr>
              <a:t>🌊</a:t>
            </a:r>
            <a:r>
              <a:rPr lang="en-US" sz="1850" dirty="0">
                <a:solidFill>
                  <a:srgbClr val="4C4C4D"/>
                </a:solidFill>
                <a:latin typeface="Crimson Pro SemiBold" pitchFamily="34" charset="0"/>
                <a:ea typeface="Crimson Pro SemiBold" pitchFamily="34" charset="-122"/>
                <a:cs typeface="Crimson Pro SemiBold" pitchFamily="34" charset="-120"/>
              </a:rPr>
              <a:t> Floods</a:t>
            </a:r>
            <a:endParaRPr lang="en-US" sz="1850" dirty="0"/>
          </a:p>
        </p:txBody>
      </p:sp>
      <p:sp>
        <p:nvSpPr>
          <p:cNvPr id="6" name="Shape 4"/>
          <p:cNvSpPr/>
          <p:nvPr/>
        </p:nvSpPr>
        <p:spPr>
          <a:xfrm>
            <a:off x="6190301" y="3007221"/>
            <a:ext cx="5339919" cy="679648"/>
          </a:xfrm>
          <a:prstGeom prst="roundRect">
            <a:avLst>
              <a:gd name="adj" fmla="val 4172"/>
            </a:avLst>
          </a:prstGeom>
          <a:solidFill>
            <a:srgbClr val="F2EEEE"/>
          </a:solidFill>
        </p:spPr>
      </p:sp>
      <p:sp>
        <p:nvSpPr>
          <p:cNvPr id="7" name="Text 5"/>
          <p:cNvSpPr/>
          <p:nvPr/>
        </p:nvSpPr>
        <p:spPr>
          <a:xfrm>
            <a:off x="6379308" y="3196233"/>
            <a:ext cx="4961905" cy="301625"/>
          </a:xfrm>
          <a:prstGeom prst="rect">
            <a:avLst/>
          </a:prstGeom>
          <a:noFill/>
        </p:spPr>
        <p:txBody>
          <a:bodyPr wrap="none" lIns="0" tIns="0" rIns="0" bIns="0" rtlCol="0" anchor="t"/>
          <a:lstStyle/>
          <a:p>
            <a:pPr marL="0" indent="0" algn="l">
              <a:lnSpc>
                <a:spcPct val="104000"/>
              </a:lnSpc>
              <a:buNone/>
            </a:pPr>
            <a:r>
              <a:rPr lang="en-US" sz="1850" dirty="0">
                <a:solidFill>
                  <a:srgbClr val="000000"/>
                </a:solidFill>
                <a:latin typeface="Twemoji Mozilla" pitchFamily="34" charset="0"/>
                <a:ea typeface="Twemoji Mozilla" pitchFamily="34" charset="-122"/>
                <a:cs typeface="Twemoji Mozilla" pitchFamily="34" charset="-120"/>
              </a:rPr>
              <a:t>🔥</a:t>
            </a:r>
            <a:r>
              <a:rPr lang="en-US" sz="1850" dirty="0">
                <a:solidFill>
                  <a:srgbClr val="4C4C4D"/>
                </a:solidFill>
                <a:latin typeface="Crimson Pro SemiBold" pitchFamily="34" charset="0"/>
                <a:ea typeface="Crimson Pro SemiBold" pitchFamily="34" charset="-122"/>
                <a:cs typeface="Crimson Pro SemiBold" pitchFamily="34" charset="-120"/>
              </a:rPr>
              <a:t> Wildfires</a:t>
            </a:r>
            <a:endParaRPr lang="en-US" sz="1850" dirty="0"/>
          </a:p>
        </p:txBody>
      </p:sp>
      <p:sp>
        <p:nvSpPr>
          <p:cNvPr id="8" name="Shape 6"/>
          <p:cNvSpPr/>
          <p:nvPr/>
        </p:nvSpPr>
        <p:spPr>
          <a:xfrm>
            <a:off x="661475" y="3875881"/>
            <a:ext cx="5339820" cy="679648"/>
          </a:xfrm>
          <a:prstGeom prst="roundRect">
            <a:avLst>
              <a:gd name="adj" fmla="val 4172"/>
            </a:avLst>
          </a:prstGeom>
          <a:solidFill>
            <a:srgbClr val="F2EEEE"/>
          </a:solidFill>
        </p:spPr>
      </p:sp>
      <p:sp>
        <p:nvSpPr>
          <p:cNvPr id="9" name="Text 7"/>
          <p:cNvSpPr/>
          <p:nvPr/>
        </p:nvSpPr>
        <p:spPr>
          <a:xfrm>
            <a:off x="850482" y="4064893"/>
            <a:ext cx="4961806" cy="301625"/>
          </a:xfrm>
          <a:prstGeom prst="rect">
            <a:avLst/>
          </a:prstGeom>
          <a:noFill/>
        </p:spPr>
        <p:txBody>
          <a:bodyPr wrap="none" lIns="0" tIns="0" rIns="0" bIns="0" rtlCol="0" anchor="t"/>
          <a:lstStyle/>
          <a:p>
            <a:pPr marL="0" indent="0" algn="l">
              <a:lnSpc>
                <a:spcPct val="104000"/>
              </a:lnSpc>
              <a:buNone/>
            </a:pPr>
            <a:r>
              <a:rPr lang="en-US" sz="1850" dirty="0">
                <a:solidFill>
                  <a:srgbClr val="000000"/>
                </a:solidFill>
                <a:latin typeface="Twemoji Mozilla" pitchFamily="34" charset="0"/>
                <a:ea typeface="Twemoji Mozilla" pitchFamily="34" charset="-122"/>
                <a:cs typeface="Twemoji Mozilla" pitchFamily="34" charset="-120"/>
              </a:rPr>
              <a:t>🌍</a:t>
            </a:r>
            <a:r>
              <a:rPr lang="en-US" sz="1850" dirty="0">
                <a:solidFill>
                  <a:srgbClr val="4C4C4D"/>
                </a:solidFill>
                <a:latin typeface="Crimson Pro SemiBold" pitchFamily="34" charset="0"/>
                <a:ea typeface="Crimson Pro SemiBold" pitchFamily="34" charset="-122"/>
                <a:cs typeface="Crimson Pro SemiBold" pitchFamily="34" charset="-120"/>
              </a:rPr>
              <a:t> Earthquakes</a:t>
            </a:r>
            <a:endParaRPr lang="en-US" sz="1850" dirty="0"/>
          </a:p>
        </p:txBody>
      </p:sp>
      <p:sp>
        <p:nvSpPr>
          <p:cNvPr id="10" name="Shape 8"/>
          <p:cNvSpPr/>
          <p:nvPr/>
        </p:nvSpPr>
        <p:spPr>
          <a:xfrm>
            <a:off x="6190301" y="3875881"/>
            <a:ext cx="5339919" cy="679648"/>
          </a:xfrm>
          <a:prstGeom prst="roundRect">
            <a:avLst>
              <a:gd name="adj" fmla="val 4172"/>
            </a:avLst>
          </a:prstGeom>
          <a:solidFill>
            <a:srgbClr val="F2EEEE"/>
          </a:solidFill>
        </p:spPr>
      </p:sp>
      <p:sp>
        <p:nvSpPr>
          <p:cNvPr id="11" name="Text 9"/>
          <p:cNvSpPr/>
          <p:nvPr/>
        </p:nvSpPr>
        <p:spPr>
          <a:xfrm>
            <a:off x="6379308" y="4064893"/>
            <a:ext cx="4961905" cy="301625"/>
          </a:xfrm>
          <a:prstGeom prst="rect">
            <a:avLst/>
          </a:prstGeom>
          <a:noFill/>
        </p:spPr>
        <p:txBody>
          <a:bodyPr wrap="none" lIns="0" tIns="0" rIns="0" bIns="0" rtlCol="0" anchor="t"/>
          <a:lstStyle/>
          <a:p>
            <a:pPr marL="0" indent="0" algn="l">
              <a:lnSpc>
                <a:spcPct val="104000"/>
              </a:lnSpc>
              <a:buNone/>
            </a:pPr>
            <a:r>
              <a:rPr lang="en-US" sz="1850" dirty="0">
                <a:solidFill>
                  <a:srgbClr val="000000"/>
                </a:solidFill>
                <a:latin typeface="Twemoji Mozilla" pitchFamily="34" charset="0"/>
                <a:ea typeface="Twemoji Mozilla" pitchFamily="34" charset="-122"/>
                <a:cs typeface="Twemoji Mozilla" pitchFamily="34" charset="-120"/>
              </a:rPr>
              <a:t>⛰</a:t>
            </a:r>
            <a:r>
              <a:rPr lang="en-US" sz="1850" dirty="0">
                <a:solidFill>
                  <a:srgbClr val="4C4C4D"/>
                </a:solidFill>
                <a:latin typeface="Crimson Pro SemiBold" pitchFamily="34" charset="0"/>
                <a:ea typeface="Crimson Pro SemiBold" pitchFamily="34" charset="-122"/>
                <a:cs typeface="Crimson Pro SemiBold" pitchFamily="34" charset="-120"/>
              </a:rPr>
              <a:t>Landslides</a:t>
            </a:r>
            <a:endParaRPr lang="en-US" sz="1850" dirty="0"/>
          </a:p>
        </p:txBody>
      </p:sp>
      <p:sp>
        <p:nvSpPr>
          <p:cNvPr id="12" name="Shape 10"/>
          <p:cNvSpPr/>
          <p:nvPr/>
        </p:nvSpPr>
        <p:spPr>
          <a:xfrm>
            <a:off x="661475" y="4744541"/>
            <a:ext cx="5339820" cy="679648"/>
          </a:xfrm>
          <a:prstGeom prst="roundRect">
            <a:avLst>
              <a:gd name="adj" fmla="val 4172"/>
            </a:avLst>
          </a:prstGeom>
          <a:solidFill>
            <a:srgbClr val="F2EEEE"/>
          </a:solidFill>
        </p:spPr>
      </p:sp>
      <p:sp>
        <p:nvSpPr>
          <p:cNvPr id="13" name="Text 11"/>
          <p:cNvSpPr/>
          <p:nvPr/>
        </p:nvSpPr>
        <p:spPr>
          <a:xfrm>
            <a:off x="850482" y="4933553"/>
            <a:ext cx="4961806" cy="301625"/>
          </a:xfrm>
          <a:prstGeom prst="rect">
            <a:avLst/>
          </a:prstGeom>
          <a:noFill/>
        </p:spPr>
        <p:txBody>
          <a:bodyPr wrap="none" lIns="0" tIns="0" rIns="0" bIns="0" rtlCol="0" anchor="t"/>
          <a:lstStyle/>
          <a:p>
            <a:pPr marL="0" indent="0" algn="l">
              <a:lnSpc>
                <a:spcPct val="104000"/>
              </a:lnSpc>
              <a:buNone/>
            </a:pPr>
            <a:r>
              <a:rPr lang="en-US" sz="1850" dirty="0">
                <a:solidFill>
                  <a:srgbClr val="000000"/>
                </a:solidFill>
                <a:latin typeface="Twemoji Mozilla" pitchFamily="34" charset="0"/>
                <a:ea typeface="Twemoji Mozilla" pitchFamily="34" charset="-122"/>
                <a:cs typeface="Twemoji Mozilla" pitchFamily="34" charset="-120"/>
              </a:rPr>
              <a:t>🌀</a:t>
            </a:r>
            <a:r>
              <a:rPr lang="en-US" sz="1850" dirty="0">
                <a:solidFill>
                  <a:srgbClr val="4C4C4D"/>
                </a:solidFill>
                <a:latin typeface="Crimson Pro SemiBold" pitchFamily="34" charset="0"/>
                <a:ea typeface="Crimson Pro SemiBold" pitchFamily="34" charset="-122"/>
                <a:cs typeface="Crimson Pro SemiBold" pitchFamily="34" charset="-120"/>
              </a:rPr>
              <a:t> Cyclones</a:t>
            </a:r>
            <a:endParaRPr lang="en-US" sz="1850" dirty="0"/>
          </a:p>
        </p:txBody>
      </p:sp>
      <p:sp>
        <p:nvSpPr>
          <p:cNvPr id="14" name="Shape 12"/>
          <p:cNvSpPr/>
          <p:nvPr/>
        </p:nvSpPr>
        <p:spPr>
          <a:xfrm>
            <a:off x="6190301" y="4744541"/>
            <a:ext cx="5339919" cy="679648"/>
          </a:xfrm>
          <a:prstGeom prst="roundRect">
            <a:avLst>
              <a:gd name="adj" fmla="val 4172"/>
            </a:avLst>
          </a:prstGeom>
          <a:solidFill>
            <a:srgbClr val="F2EEEE"/>
          </a:solidFill>
        </p:spPr>
      </p:sp>
      <p:sp>
        <p:nvSpPr>
          <p:cNvPr id="15" name="Text 13"/>
          <p:cNvSpPr/>
          <p:nvPr/>
        </p:nvSpPr>
        <p:spPr>
          <a:xfrm>
            <a:off x="6379308" y="4933553"/>
            <a:ext cx="4961905" cy="301625"/>
          </a:xfrm>
          <a:prstGeom prst="rect">
            <a:avLst/>
          </a:prstGeom>
          <a:noFill/>
        </p:spPr>
        <p:txBody>
          <a:bodyPr wrap="none" lIns="0" tIns="0" rIns="0" bIns="0" rtlCol="0" anchor="t"/>
          <a:lstStyle/>
          <a:p>
            <a:pPr marL="0" indent="0" algn="l">
              <a:lnSpc>
                <a:spcPct val="104000"/>
              </a:lnSpc>
              <a:buNone/>
            </a:pPr>
            <a:r>
              <a:rPr lang="en-US" sz="1850" dirty="0">
                <a:solidFill>
                  <a:srgbClr val="000000"/>
                </a:solidFill>
                <a:latin typeface="Twemoji Mozilla" pitchFamily="34" charset="0"/>
                <a:ea typeface="Twemoji Mozilla" pitchFamily="34" charset="-122"/>
                <a:cs typeface="Twemoji Mozilla" pitchFamily="34" charset="-120"/>
              </a:rPr>
              <a:t>🏭</a:t>
            </a:r>
            <a:r>
              <a:rPr lang="en-US" sz="1850" dirty="0">
                <a:solidFill>
                  <a:srgbClr val="4C4C4D"/>
                </a:solidFill>
                <a:latin typeface="Crimson Pro SemiBold" pitchFamily="34" charset="0"/>
                <a:ea typeface="Crimson Pro SemiBold" pitchFamily="34" charset="-122"/>
                <a:cs typeface="Crimson Pro SemiBold" pitchFamily="34" charset="-120"/>
              </a:rPr>
              <a:t> Industrial Accidents</a:t>
            </a:r>
            <a:endParaRPr lang="en-US" sz="1850" dirty="0"/>
          </a:p>
        </p:txBody>
      </p:sp>
      <p:sp>
        <p:nvSpPr>
          <p:cNvPr id="16" name="Text 14"/>
          <p:cNvSpPr/>
          <p:nvPr/>
        </p:nvSpPr>
        <p:spPr>
          <a:xfrm>
            <a:off x="661475" y="5636816"/>
            <a:ext cx="11478330" cy="302419"/>
          </a:xfrm>
          <a:prstGeom prst="rect">
            <a:avLst/>
          </a:prstGeom>
          <a:noFill/>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AI helps authorities detect these disasters faster and make informed decisions during emergencies.</a:t>
            </a:r>
            <a:endParaRPr lang="en-US" sz="1450" dirty="0"/>
          </a:p>
        </p:txBody>
      </p:sp>
      <p:sp>
        <p:nvSpPr>
          <p:cNvPr id="17" name="Rectangle 16"/>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406624"/>
            <a:ext cx="5203794" cy="1181298"/>
          </a:xfrm>
          <a:prstGeom prst="rect">
            <a:avLst/>
          </a:prstGeom>
          <a:noFill/>
        </p:spPr>
        <p:txBody>
          <a:bodyPr wrap="square" lIns="0" tIns="0" rIns="0" bIns="0" rtlCol="0" anchor="t">
            <a:normAutofit/>
          </a:bodyPr>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Challenges in Traditional Systems</a:t>
            </a:r>
            <a:endParaRPr lang="en-US" sz="3700" dirty="0"/>
          </a:p>
        </p:txBody>
      </p:sp>
      <p:sp>
        <p:nvSpPr>
          <p:cNvPr id="3" name="Text 1"/>
          <p:cNvSpPr/>
          <p:nvPr/>
        </p:nvSpPr>
        <p:spPr>
          <a:xfrm>
            <a:off x="661475" y="2663527"/>
            <a:ext cx="5203794" cy="295275"/>
          </a:xfrm>
          <a:prstGeom prst="rect">
            <a:avLst/>
          </a:prstGeom>
          <a:noFill/>
        </p:spPr>
        <p:txBody>
          <a:bodyPr wrap="none" lIns="0" tIns="0" rIns="0" bIns="0" rtlCol="0" anchor="t"/>
          <a:lstStyle/>
          <a:p>
            <a:pPr marL="0" indent="0" algn="l">
              <a:lnSpc>
                <a:spcPct val="104000"/>
              </a:lnSpc>
              <a:buNone/>
            </a:pPr>
            <a:r>
              <a:rPr lang="en-US" sz="1850" dirty="0">
                <a:solidFill>
                  <a:srgbClr val="152D47"/>
                </a:solidFill>
                <a:latin typeface="Crimson Pro SemiBold" pitchFamily="34" charset="0"/>
                <a:ea typeface="Crimson Pro SemiBold" pitchFamily="34" charset="-122"/>
                <a:cs typeface="Crimson Pro SemiBold" pitchFamily="34" charset="-120"/>
              </a:rPr>
              <a:t>Current Limitations</a:t>
            </a:r>
            <a:endParaRPr lang="en-US" sz="1850" dirty="0"/>
          </a:p>
        </p:txBody>
      </p:sp>
      <p:pic>
        <p:nvPicPr>
          <p:cNvPr id="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171428"/>
            <a:ext cx="2507394" cy="1033661"/>
          </a:xfrm>
          <a:prstGeom prst="rect">
            <a:avLst/>
          </a:prstGeom>
        </p:spPr>
      </p:pic>
      <p:sp>
        <p:nvSpPr>
          <p:cNvPr id="5" name="Text 2"/>
          <p:cNvSpPr/>
          <p:nvPr/>
        </p:nvSpPr>
        <p:spPr>
          <a:xfrm>
            <a:off x="977479" y="3385840"/>
            <a:ext cx="1976983"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Delayed warning generation</a:t>
            </a:r>
            <a:endParaRPr lang="en-US" sz="1450" dirty="0"/>
          </a:p>
        </p:txBody>
      </p:sp>
      <p:pic>
        <p:nvPicPr>
          <p:cNvPr id="6"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57875" y="3171428"/>
            <a:ext cx="2507394" cy="1033661"/>
          </a:xfrm>
          <a:prstGeom prst="rect">
            <a:avLst/>
          </a:prstGeom>
        </p:spPr>
      </p:pic>
      <p:sp>
        <p:nvSpPr>
          <p:cNvPr id="7" name="Text 3"/>
          <p:cNvSpPr/>
          <p:nvPr/>
        </p:nvSpPr>
        <p:spPr>
          <a:xfrm>
            <a:off x="3673879" y="3385840"/>
            <a:ext cx="1976983"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Human errors in monitoring</a:t>
            </a:r>
            <a:endParaRPr lang="en-US" sz="1450" dirty="0"/>
          </a:p>
        </p:txBody>
      </p:sp>
      <p:pic>
        <p:nvPicPr>
          <p:cNvPr id="8"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4394101"/>
            <a:ext cx="2507394" cy="1033661"/>
          </a:xfrm>
          <a:prstGeom prst="rect">
            <a:avLst/>
          </a:prstGeom>
        </p:spPr>
      </p:pic>
      <p:sp>
        <p:nvSpPr>
          <p:cNvPr id="9" name="Text 4"/>
          <p:cNvSpPr/>
          <p:nvPr/>
        </p:nvSpPr>
        <p:spPr>
          <a:xfrm>
            <a:off x="977479" y="4608513"/>
            <a:ext cx="1976983"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Limited data processing capability</a:t>
            </a:r>
            <a:endParaRPr lang="en-US" sz="1450" dirty="0"/>
          </a:p>
        </p:txBody>
      </p:sp>
      <p:pic>
        <p:nvPicPr>
          <p:cNvPr id="10"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57875" y="4394101"/>
            <a:ext cx="2507394" cy="1033661"/>
          </a:xfrm>
          <a:prstGeom prst="rect">
            <a:avLst/>
          </a:prstGeom>
        </p:spPr>
      </p:pic>
      <p:sp>
        <p:nvSpPr>
          <p:cNvPr id="11" name="Text 5"/>
          <p:cNvSpPr/>
          <p:nvPr/>
        </p:nvSpPr>
        <p:spPr>
          <a:xfrm>
            <a:off x="3673879" y="4608513"/>
            <a:ext cx="1976983"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Slow emergency response</a:t>
            </a:r>
            <a:endParaRPr lang="en-US" sz="1450" dirty="0"/>
          </a:p>
        </p:txBody>
      </p:sp>
      <p:sp>
        <p:nvSpPr>
          <p:cNvPr id="12" name="Shape 6"/>
          <p:cNvSpPr/>
          <p:nvPr/>
        </p:nvSpPr>
        <p:spPr>
          <a:xfrm>
            <a:off x="6196651" y="1217613"/>
            <a:ext cx="5476043" cy="4422775"/>
          </a:xfrm>
          <a:prstGeom prst="roundRect">
            <a:avLst>
              <a:gd name="adj" fmla="val 641"/>
            </a:avLst>
          </a:prstGeom>
          <a:solidFill>
            <a:srgbClr val="000000"/>
          </a:solidFill>
        </p:spPr>
      </p:sp>
      <p:sp>
        <p:nvSpPr>
          <p:cNvPr id="13" name="Text 7"/>
          <p:cNvSpPr/>
          <p:nvPr/>
        </p:nvSpPr>
        <p:spPr>
          <a:xfrm>
            <a:off x="6385658" y="1406624"/>
            <a:ext cx="5098029" cy="295275"/>
          </a:xfrm>
          <a:prstGeom prst="rect">
            <a:avLst/>
          </a:prstGeom>
          <a:noFill/>
        </p:spPr>
        <p:txBody>
          <a:bodyPr wrap="none" lIns="0" tIns="0" rIns="0" bIns="0" rtlCol="0" anchor="t"/>
          <a:lstStyle/>
          <a:p>
            <a:pPr marL="0" indent="0" algn="l">
              <a:lnSpc>
                <a:spcPct val="104000"/>
              </a:lnSpc>
              <a:buNone/>
            </a:pPr>
            <a:r>
              <a:rPr lang="en-US" sz="1850" dirty="0">
                <a:solidFill>
                  <a:srgbClr val="FFFFFF"/>
                </a:solidFill>
                <a:latin typeface="Crimson Pro SemiBold" pitchFamily="34" charset="0"/>
                <a:ea typeface="Crimson Pro SemiBold" pitchFamily="34" charset="-122"/>
                <a:cs typeface="Crimson Pro SemiBold" pitchFamily="34" charset="-120"/>
              </a:rPr>
              <a:t>Why AI is Needed</a:t>
            </a:r>
            <a:endParaRPr lang="en-US" sz="1850" dirty="0"/>
          </a:p>
        </p:txBody>
      </p:sp>
      <p:sp>
        <p:nvSpPr>
          <p:cNvPr id="14" name="Text 8"/>
          <p:cNvSpPr/>
          <p:nvPr/>
        </p:nvSpPr>
        <p:spPr>
          <a:xfrm>
            <a:off x="6385658" y="1890911"/>
            <a:ext cx="5098029" cy="1776413"/>
          </a:xfrm>
          <a:prstGeom prst="rect">
            <a:avLst/>
          </a:prstGeom>
          <a:noFill/>
        </p:spPr>
        <p:txBody>
          <a:bodyPr wrap="square" lIns="0" tIns="75608" rIns="0" bIns="0" rtlCol="0" anchor="t">
            <a:normAutofit/>
          </a:bodyPr>
          <a:lstStyle/>
          <a:p>
            <a:pPr marL="294640" indent="-294640" algn="l">
              <a:lnSpc>
                <a:spcPct val="133000"/>
              </a:lnSpc>
              <a:buSzPct val="100000"/>
              <a:buChar char="•"/>
            </a:pPr>
            <a:r>
              <a:rPr lang="en-US" sz="1450" dirty="0">
                <a:solidFill>
                  <a:srgbClr val="FFFFFF"/>
                </a:solidFill>
                <a:latin typeface="Heebo" pitchFamily="34" charset="0"/>
                <a:ea typeface="Heebo" pitchFamily="34" charset="-122"/>
                <a:cs typeface="Heebo" pitchFamily="34" charset="-120"/>
              </a:rPr>
              <a:t>Processes large datasets quickly</a:t>
            </a:r>
            <a:endParaRPr lang="en-US" sz="1450" dirty="0"/>
          </a:p>
          <a:p>
            <a:pPr marL="294640" indent="-294640" algn="l">
              <a:lnSpc>
                <a:spcPct val="133000"/>
              </a:lnSpc>
              <a:buSzPct val="100000"/>
              <a:buChar char="•"/>
            </a:pPr>
            <a:r>
              <a:rPr lang="en-US" sz="1450" dirty="0">
                <a:solidFill>
                  <a:srgbClr val="FFFFFF"/>
                </a:solidFill>
                <a:latin typeface="Heebo" pitchFamily="34" charset="0"/>
                <a:ea typeface="Heebo" pitchFamily="34" charset="-122"/>
                <a:cs typeface="Heebo" pitchFamily="34" charset="-120"/>
              </a:rPr>
              <a:t>Detects patterns that humans may miss</a:t>
            </a:r>
            <a:endParaRPr lang="en-US" sz="1450" dirty="0"/>
          </a:p>
          <a:p>
            <a:pPr marL="294640" indent="-294640" algn="l">
              <a:lnSpc>
                <a:spcPct val="133000"/>
              </a:lnSpc>
              <a:buSzPct val="100000"/>
              <a:buChar char="•"/>
            </a:pPr>
            <a:r>
              <a:rPr lang="en-US" sz="1450" dirty="0">
                <a:solidFill>
                  <a:srgbClr val="FFFFFF"/>
                </a:solidFill>
                <a:latin typeface="Heebo" pitchFamily="34" charset="0"/>
                <a:ea typeface="Heebo" pitchFamily="34" charset="-122"/>
                <a:cs typeface="Heebo" pitchFamily="34" charset="-120"/>
              </a:rPr>
              <a:t>Provides real-time monitoring</a:t>
            </a:r>
            <a:endParaRPr lang="en-US" sz="1450" dirty="0"/>
          </a:p>
          <a:p>
            <a:pPr marL="294640" indent="-294640" algn="l">
              <a:lnSpc>
                <a:spcPct val="133000"/>
              </a:lnSpc>
              <a:buSzPct val="100000"/>
              <a:buChar char="•"/>
            </a:pPr>
            <a:r>
              <a:rPr lang="en-US" sz="1450" dirty="0">
                <a:solidFill>
                  <a:srgbClr val="FFFFFF"/>
                </a:solidFill>
                <a:latin typeface="Heebo" pitchFamily="34" charset="0"/>
                <a:ea typeface="Heebo" pitchFamily="34" charset="-122"/>
                <a:cs typeface="Heebo" pitchFamily="34" charset="-120"/>
              </a:rPr>
              <a:t>Improves prediction accuracy</a:t>
            </a:r>
            <a:endParaRPr lang="en-US" sz="1450" dirty="0"/>
          </a:p>
          <a:p>
            <a:pPr marL="294640" indent="-294640" algn="l">
              <a:lnSpc>
                <a:spcPct val="133000"/>
              </a:lnSpc>
              <a:buSzPct val="100000"/>
              <a:buChar char="•"/>
            </a:pPr>
            <a:r>
              <a:rPr lang="en-US" sz="1450" dirty="0">
                <a:solidFill>
                  <a:srgbClr val="FFFFFF"/>
                </a:solidFill>
                <a:latin typeface="Heebo" pitchFamily="34" charset="0"/>
                <a:ea typeface="Heebo" pitchFamily="34" charset="-122"/>
                <a:cs typeface="Heebo" pitchFamily="34" charset="-120"/>
              </a:rPr>
              <a:t>Supports faster decision-making</a:t>
            </a:r>
            <a:endParaRPr lang="en-US" sz="1450" dirty="0"/>
          </a:p>
        </p:txBody>
      </p:sp>
      <p:sp>
        <p:nvSpPr>
          <p:cNvPr id="15" name="Text 9"/>
          <p:cNvSpPr/>
          <p:nvPr/>
        </p:nvSpPr>
        <p:spPr>
          <a:xfrm>
            <a:off x="6385658" y="3837384"/>
            <a:ext cx="5098029"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FFFFFF"/>
                </a:solidFill>
                <a:latin typeface="Heebo" pitchFamily="34" charset="0"/>
                <a:ea typeface="Heebo" pitchFamily="34" charset="-122"/>
                <a:cs typeface="Heebo" pitchFamily="34" charset="-120"/>
              </a:rPr>
              <a:t>AI significantly enhances the efficiency and effectiveness of disaster management systems.</a:t>
            </a:r>
            <a:endParaRPr lang="en-US" sz="1450" dirty="0"/>
          </a:p>
        </p:txBody>
      </p:sp>
      <p:sp>
        <p:nvSpPr>
          <p:cNvPr id="17" name="Rectangle 16"/>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13184"/>
            <a:ext cx="10868745" cy="590649"/>
          </a:xfrm>
          <a:prstGeom prst="rect">
            <a:avLst/>
          </a:prstGeom>
          <a:noFill/>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How the System Works</a:t>
            </a:r>
            <a:endParaRPr lang="en-US" sz="3700" dirty="0"/>
          </a:p>
        </p:txBody>
      </p:sp>
      <p:pic>
        <p:nvPicPr>
          <p:cNvPr id="3" name="Image 0" descr="preencoded.png"/>
          <p:cNvPicPr>
            <a:picLocks noChangeAspect="1"/>
          </p:cNvPicPr>
          <p:nvPr/>
        </p:nvPicPr>
        <p:blipFill>
          <a:blip r:embed="rId1"/>
          <a:stretch>
            <a:fillRect/>
          </a:stretch>
        </p:blipFill>
        <p:spPr>
          <a:xfrm>
            <a:off x="835500" y="1681857"/>
            <a:ext cx="10520595" cy="3947914"/>
          </a:xfrm>
          <a:prstGeom prst="rect">
            <a:avLst/>
          </a:prstGeom>
        </p:spPr>
      </p:pic>
      <p:sp>
        <p:nvSpPr>
          <p:cNvPr id="4" name="Text 1"/>
          <p:cNvSpPr/>
          <p:nvPr/>
        </p:nvSpPr>
        <p:spPr>
          <a:xfrm>
            <a:off x="9336045" y="4671378"/>
            <a:ext cx="1586822" cy="305688"/>
          </a:xfrm>
          <a:prstGeom prst="rect">
            <a:avLst/>
          </a:prstGeom>
          <a:noFill/>
        </p:spPr>
        <p:txBody>
          <a:bodyPr wrap="none" lIns="0" tIns="0" rIns="0" bIns="0" rtlCol="0" anchor="t"/>
          <a:lstStyle/>
          <a:p>
            <a:pPr marL="0" indent="0" algn="ctr">
              <a:lnSpc>
                <a:spcPct val="104000"/>
              </a:lnSpc>
              <a:buNone/>
            </a:pPr>
            <a:r>
              <a:rPr lang="en-US" sz="1900" dirty="0">
                <a:solidFill>
                  <a:srgbClr val="4C4C4D"/>
                </a:solidFill>
                <a:latin typeface="Crimson Pro SemiBold" pitchFamily="34" charset="0"/>
                <a:ea typeface="Crimson Pro SemiBold" pitchFamily="34" charset="-122"/>
                <a:cs typeface="Crimson Pro SemiBold" pitchFamily="34" charset="-120"/>
              </a:rPr>
              <a:t>Alerts</a:t>
            </a:r>
            <a:endParaRPr lang="en-US" sz="1900" dirty="0"/>
          </a:p>
        </p:txBody>
      </p:sp>
      <p:sp>
        <p:nvSpPr>
          <p:cNvPr id="5" name="Text 2"/>
          <p:cNvSpPr/>
          <p:nvPr/>
        </p:nvSpPr>
        <p:spPr>
          <a:xfrm>
            <a:off x="7336215" y="4671378"/>
            <a:ext cx="1586822" cy="305688"/>
          </a:xfrm>
          <a:prstGeom prst="rect">
            <a:avLst/>
          </a:prstGeom>
          <a:noFill/>
        </p:spPr>
        <p:txBody>
          <a:bodyPr wrap="none" lIns="0" tIns="0" rIns="0" bIns="0" rtlCol="0" anchor="t"/>
          <a:lstStyle/>
          <a:p>
            <a:pPr marL="0" indent="0" algn="ctr">
              <a:lnSpc>
                <a:spcPct val="104000"/>
              </a:lnSpc>
              <a:buNone/>
            </a:pPr>
            <a:r>
              <a:rPr lang="en-US" sz="1900" dirty="0">
                <a:solidFill>
                  <a:srgbClr val="4C4C4D"/>
                </a:solidFill>
                <a:latin typeface="Crimson Pro SemiBold" pitchFamily="34" charset="0"/>
                <a:ea typeface="Crimson Pro SemiBold" pitchFamily="34" charset="-122"/>
                <a:cs typeface="Crimson Pro SemiBold" pitchFamily="34" charset="-120"/>
              </a:rPr>
              <a:t>Prediction</a:t>
            </a:r>
            <a:endParaRPr lang="en-US" sz="1900" dirty="0"/>
          </a:p>
        </p:txBody>
      </p:sp>
      <p:sp>
        <p:nvSpPr>
          <p:cNvPr id="6" name="Text 3"/>
          <p:cNvSpPr/>
          <p:nvPr/>
        </p:nvSpPr>
        <p:spPr>
          <a:xfrm>
            <a:off x="5347253" y="4671378"/>
            <a:ext cx="1586822" cy="305688"/>
          </a:xfrm>
          <a:prstGeom prst="rect">
            <a:avLst/>
          </a:prstGeom>
          <a:noFill/>
        </p:spPr>
        <p:txBody>
          <a:bodyPr wrap="none" lIns="0" tIns="0" rIns="0" bIns="0" rtlCol="0" anchor="t"/>
          <a:lstStyle/>
          <a:p>
            <a:pPr marL="0" indent="0" algn="ctr">
              <a:lnSpc>
                <a:spcPct val="104000"/>
              </a:lnSpc>
              <a:buNone/>
            </a:pPr>
            <a:r>
              <a:rPr lang="en-US" sz="1900" dirty="0">
                <a:solidFill>
                  <a:srgbClr val="4C4C4D"/>
                </a:solidFill>
                <a:latin typeface="Crimson Pro SemiBold" pitchFamily="34" charset="0"/>
                <a:ea typeface="Crimson Pro SemiBold" pitchFamily="34" charset="-122"/>
                <a:cs typeface="Crimson Pro SemiBold" pitchFamily="34" charset="-120"/>
              </a:rPr>
              <a:t>AI Analysis</a:t>
            </a:r>
            <a:endParaRPr lang="en-US" sz="1900" dirty="0"/>
          </a:p>
        </p:txBody>
      </p:sp>
      <p:sp>
        <p:nvSpPr>
          <p:cNvPr id="7" name="Text 4"/>
          <p:cNvSpPr/>
          <p:nvPr/>
        </p:nvSpPr>
        <p:spPr>
          <a:xfrm>
            <a:off x="3358291" y="4518534"/>
            <a:ext cx="1586822" cy="611377"/>
          </a:xfrm>
          <a:prstGeom prst="rect">
            <a:avLst/>
          </a:prstGeom>
          <a:noFill/>
        </p:spPr>
        <p:txBody>
          <a:bodyPr wrap="square" lIns="0" tIns="0" rIns="0" bIns="0" rtlCol="0" anchor="t">
            <a:normAutofit/>
          </a:bodyPr>
          <a:lstStyle/>
          <a:p>
            <a:pPr marL="0" indent="0" algn="ctr">
              <a:lnSpc>
                <a:spcPct val="104000"/>
              </a:lnSpc>
              <a:buNone/>
            </a:pPr>
            <a:r>
              <a:rPr lang="en-US" sz="1900" dirty="0">
                <a:solidFill>
                  <a:srgbClr val="4C4C4D"/>
                </a:solidFill>
                <a:latin typeface="Crimson Pro SemiBold" pitchFamily="34" charset="0"/>
                <a:ea typeface="Crimson Pro SemiBold" pitchFamily="34" charset="-122"/>
                <a:cs typeface="Crimson Pro SemiBold" pitchFamily="34" charset="-120"/>
              </a:rPr>
              <a:t>Data Transmission</a:t>
            </a:r>
            <a:endParaRPr lang="en-US" sz="1900" dirty="0"/>
          </a:p>
        </p:txBody>
      </p:sp>
      <p:sp>
        <p:nvSpPr>
          <p:cNvPr id="8" name="Text 5"/>
          <p:cNvSpPr/>
          <p:nvPr/>
        </p:nvSpPr>
        <p:spPr>
          <a:xfrm>
            <a:off x="1325854" y="4671378"/>
            <a:ext cx="1586822" cy="305688"/>
          </a:xfrm>
          <a:prstGeom prst="rect">
            <a:avLst/>
          </a:prstGeom>
          <a:noFill/>
        </p:spPr>
        <p:txBody>
          <a:bodyPr wrap="none" lIns="0" tIns="0" rIns="0" bIns="0" rtlCol="0" anchor="t"/>
          <a:lstStyle/>
          <a:p>
            <a:pPr marL="0" indent="0" algn="ctr">
              <a:lnSpc>
                <a:spcPct val="104000"/>
              </a:lnSpc>
              <a:buNone/>
            </a:pPr>
            <a:r>
              <a:rPr lang="en-US" sz="1900" dirty="0">
                <a:solidFill>
                  <a:srgbClr val="4C4C4D"/>
                </a:solidFill>
                <a:latin typeface="Crimson Pro SemiBold" pitchFamily="34" charset="0"/>
                <a:ea typeface="Crimson Pro SemiBold" pitchFamily="34" charset="-122"/>
                <a:cs typeface="Crimson Pro SemiBold" pitchFamily="34" charset="-120"/>
              </a:rPr>
              <a:t>Data Collection</a:t>
            </a:r>
            <a:endParaRPr lang="en-US" sz="1900" dirty="0"/>
          </a:p>
        </p:txBody>
      </p:sp>
      <p:sp>
        <p:nvSpPr>
          <p:cNvPr id="9" name="Text 6"/>
          <p:cNvSpPr/>
          <p:nvPr/>
        </p:nvSpPr>
        <p:spPr>
          <a:xfrm>
            <a:off x="661475" y="5842397"/>
            <a:ext cx="11478330" cy="302419"/>
          </a:xfrm>
          <a:prstGeom prst="rect">
            <a:avLst/>
          </a:prstGeom>
          <a:noFill/>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This automated workflow ensures rapid detection and response to disaster situations.</a:t>
            </a:r>
            <a:endParaRPr lang="en-US" sz="1450" dirty="0"/>
          </a:p>
        </p:txBody>
      </p:sp>
      <p:sp>
        <p:nvSpPr>
          <p:cNvPr id="17" name="Rectangle 16"/>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13085"/>
            <a:ext cx="10868745" cy="472480"/>
          </a:xfrm>
          <a:prstGeom prst="rect">
            <a:avLst/>
          </a:prstGeom>
          <a:noFill/>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System Architecture</a:t>
            </a:r>
            <a:endParaRPr lang="en-US" sz="2950" dirty="0"/>
          </a:p>
        </p:txBody>
      </p:sp>
      <p:pic>
        <p:nvPicPr>
          <p:cNvPr id="3" name="Image 0" descr="preencoded.png"/>
          <p:cNvPicPr>
            <a:picLocks noChangeAspect="1"/>
          </p:cNvPicPr>
          <p:nvPr/>
        </p:nvPicPr>
        <p:blipFill>
          <a:blip r:embed="rId1"/>
          <a:stretch>
            <a:fillRect/>
          </a:stretch>
        </p:blipFill>
        <p:spPr>
          <a:xfrm>
            <a:off x="1354997" y="2172593"/>
            <a:ext cx="5548372" cy="3166566"/>
          </a:xfrm>
          <a:prstGeom prst="rect">
            <a:avLst/>
          </a:prstGeom>
        </p:spPr>
      </p:pic>
      <p:sp>
        <p:nvSpPr>
          <p:cNvPr id="4" name="Text 1"/>
          <p:cNvSpPr/>
          <p:nvPr/>
        </p:nvSpPr>
        <p:spPr>
          <a:xfrm>
            <a:off x="7972226" y="1487884"/>
            <a:ext cx="3564245" cy="236240"/>
          </a:xfrm>
          <a:prstGeom prst="rect">
            <a:avLst/>
          </a:prstGeom>
          <a:noFill/>
        </p:spPr>
        <p:txBody>
          <a:bodyPr wrap="none" lIns="0" tIns="0" rIns="0" bIns="0" rtlCol="0" anchor="t"/>
          <a:lstStyle/>
          <a:p>
            <a:pPr marL="0" indent="0" algn="l">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Data Collection Layer</a:t>
            </a:r>
            <a:endParaRPr lang="en-US" sz="1450" dirty="0"/>
          </a:p>
        </p:txBody>
      </p:sp>
      <p:sp>
        <p:nvSpPr>
          <p:cNvPr id="5" name="Text 2"/>
          <p:cNvSpPr/>
          <p:nvPr/>
        </p:nvSpPr>
        <p:spPr>
          <a:xfrm>
            <a:off x="7972226" y="1845072"/>
            <a:ext cx="3564245" cy="997545"/>
          </a:xfrm>
          <a:prstGeom prst="rect">
            <a:avLst/>
          </a:prstGeom>
          <a:noFill/>
        </p:spPr>
        <p:txBody>
          <a:bodyPr wrap="square" lIns="0" tIns="60486" rIns="0" bIns="0" rtlCol="0" anchor="t">
            <a:normAutofit/>
          </a:bodyPr>
          <a:lstStyle/>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Sensors</a:t>
            </a:r>
            <a:endParaRPr lang="en-US" sz="1150" dirty="0"/>
          </a:p>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Cameras</a:t>
            </a:r>
            <a:endParaRPr lang="en-US" sz="1150" dirty="0"/>
          </a:p>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Satellites</a:t>
            </a:r>
            <a:endParaRPr lang="en-US" sz="1150" dirty="0"/>
          </a:p>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Weather Monitoring Stations</a:t>
            </a:r>
            <a:endParaRPr lang="en-US" sz="1150" dirty="0"/>
          </a:p>
        </p:txBody>
      </p:sp>
      <p:sp>
        <p:nvSpPr>
          <p:cNvPr id="6" name="Text 3"/>
          <p:cNvSpPr/>
          <p:nvPr/>
        </p:nvSpPr>
        <p:spPr>
          <a:xfrm>
            <a:off x="7972226" y="2963565"/>
            <a:ext cx="3564245" cy="236240"/>
          </a:xfrm>
          <a:prstGeom prst="rect">
            <a:avLst/>
          </a:prstGeom>
          <a:noFill/>
        </p:spPr>
        <p:txBody>
          <a:bodyPr wrap="none" lIns="0" tIns="0" rIns="0" bIns="0" rtlCol="0" anchor="t"/>
          <a:lstStyle/>
          <a:p>
            <a:pPr marL="0" indent="0" algn="l">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Processing Layer</a:t>
            </a:r>
            <a:endParaRPr lang="en-US" sz="1450" dirty="0"/>
          </a:p>
        </p:txBody>
      </p:sp>
      <p:sp>
        <p:nvSpPr>
          <p:cNvPr id="7" name="Text 4"/>
          <p:cNvSpPr/>
          <p:nvPr/>
        </p:nvSpPr>
        <p:spPr>
          <a:xfrm>
            <a:off x="7972226" y="3320752"/>
            <a:ext cx="3564245" cy="737592"/>
          </a:xfrm>
          <a:prstGeom prst="rect">
            <a:avLst/>
          </a:prstGeom>
          <a:noFill/>
        </p:spPr>
        <p:txBody>
          <a:bodyPr wrap="square" lIns="0" tIns="60486" rIns="0" bIns="0" rtlCol="0" anchor="t">
            <a:normAutofit/>
          </a:bodyPr>
          <a:lstStyle/>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Cloud Servers</a:t>
            </a:r>
            <a:endParaRPr lang="en-US" sz="1150" dirty="0"/>
          </a:p>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AI Models</a:t>
            </a:r>
            <a:endParaRPr lang="en-US" sz="1150" dirty="0"/>
          </a:p>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Data Analytics Engine</a:t>
            </a:r>
            <a:endParaRPr lang="en-US" sz="1150" dirty="0"/>
          </a:p>
        </p:txBody>
      </p:sp>
      <p:sp>
        <p:nvSpPr>
          <p:cNvPr id="8" name="Text 5"/>
          <p:cNvSpPr/>
          <p:nvPr/>
        </p:nvSpPr>
        <p:spPr>
          <a:xfrm>
            <a:off x="7972226" y="4179292"/>
            <a:ext cx="3564245" cy="236240"/>
          </a:xfrm>
          <a:prstGeom prst="rect">
            <a:avLst/>
          </a:prstGeom>
          <a:noFill/>
        </p:spPr>
        <p:txBody>
          <a:bodyPr wrap="none" lIns="0" tIns="0" rIns="0" bIns="0" rtlCol="0" anchor="t"/>
          <a:lstStyle/>
          <a:p>
            <a:pPr marL="0" indent="0" algn="l">
              <a:lnSpc>
                <a:spcPct val="104000"/>
              </a:lnSpc>
              <a:buNone/>
            </a:pPr>
            <a:r>
              <a:rPr lang="en-US" sz="1450" dirty="0">
                <a:solidFill>
                  <a:srgbClr val="152D47"/>
                </a:solidFill>
                <a:latin typeface="Crimson Pro SemiBold" pitchFamily="34" charset="0"/>
                <a:ea typeface="Crimson Pro SemiBold" pitchFamily="34" charset="-122"/>
                <a:cs typeface="Crimson Pro SemiBold" pitchFamily="34" charset="-120"/>
              </a:rPr>
              <a:t>Decision &amp; Alert Layers</a:t>
            </a:r>
            <a:endParaRPr lang="en-US" sz="1450" dirty="0"/>
          </a:p>
        </p:txBody>
      </p:sp>
      <p:sp>
        <p:nvSpPr>
          <p:cNvPr id="9" name="Text 6"/>
          <p:cNvSpPr/>
          <p:nvPr/>
        </p:nvSpPr>
        <p:spPr>
          <a:xfrm>
            <a:off x="7972226" y="4536480"/>
            <a:ext cx="3564245" cy="955278"/>
          </a:xfrm>
          <a:prstGeom prst="rect">
            <a:avLst/>
          </a:prstGeom>
          <a:noFill/>
        </p:spPr>
        <p:txBody>
          <a:bodyPr wrap="square" lIns="0" tIns="60486" rIns="0" bIns="0" rtlCol="0" anchor="t">
            <a:normAutofit/>
          </a:bodyPr>
          <a:lstStyle/>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Risk Assessment Module</a:t>
            </a:r>
            <a:endParaRPr lang="en-US" sz="1150" dirty="0"/>
          </a:p>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Prediction Module</a:t>
            </a:r>
            <a:endParaRPr lang="en-US" sz="1150" dirty="0"/>
          </a:p>
          <a:p>
            <a:pPr marL="233680" indent="-233680" algn="l">
              <a:lnSpc>
                <a:spcPct val="120000"/>
              </a:lnSpc>
              <a:buSzPct val="100000"/>
              <a:buChar char="•"/>
            </a:pPr>
            <a:r>
              <a:rPr lang="en-US" sz="1150" dirty="0">
                <a:solidFill>
                  <a:srgbClr val="4C4C4D"/>
                </a:solidFill>
                <a:latin typeface="Heebo" pitchFamily="34" charset="0"/>
                <a:ea typeface="Heebo" pitchFamily="34" charset="-122"/>
                <a:cs typeface="Heebo" pitchFamily="34" charset="-120"/>
              </a:rPr>
              <a:t>Mobile Notifications · SMS Alerts · Emergency Control Centers</a:t>
            </a:r>
            <a:endParaRPr lang="en-US" sz="1150" dirty="0"/>
          </a:p>
        </p:txBody>
      </p:sp>
      <p:sp>
        <p:nvSpPr>
          <p:cNvPr id="10" name="Text 7"/>
          <p:cNvSpPr/>
          <p:nvPr/>
        </p:nvSpPr>
        <p:spPr>
          <a:xfrm>
            <a:off x="7972226" y="5600601"/>
            <a:ext cx="3564245" cy="435372"/>
          </a:xfrm>
          <a:prstGeom prst="rect">
            <a:avLst/>
          </a:prstGeom>
          <a:noFill/>
        </p:spPr>
        <p:txBody>
          <a:bodyPr wrap="square" lIns="0" tIns="0" rIns="0" bIns="0" rtlCol="0" anchor="t">
            <a:normAutofit fontScale="30000"/>
          </a:bodyPr>
          <a:lstStyle/>
          <a:p>
            <a:pPr marL="0" indent="0" algn="l">
              <a:lnSpc>
                <a:spcPct val="120000"/>
              </a:lnSpc>
              <a:buNone/>
            </a:pPr>
            <a:r>
              <a:rPr lang="en-US" sz="3300" dirty="0">
                <a:solidFill>
                  <a:srgbClr val="4C4C4D"/>
                </a:solidFill>
                <a:latin typeface="Heebo" pitchFamily="34" charset="0"/>
                <a:ea typeface="Heebo" pitchFamily="34" charset="-122"/>
                <a:cs typeface="Heebo" pitchFamily="34" charset="-120"/>
              </a:rPr>
              <a:t>The integration of these components enables continuous monitoring and timely disaster warnings</a:t>
            </a:r>
            <a:r>
              <a:rPr lang="en-US" sz="1150" dirty="0">
                <a:solidFill>
                  <a:srgbClr val="4C4C4D"/>
                </a:solidFill>
                <a:latin typeface="Heebo" pitchFamily="34" charset="0"/>
                <a:ea typeface="Heebo" pitchFamily="34" charset="-122"/>
                <a:cs typeface="Heebo" pitchFamily="34" charset="-120"/>
              </a:rPr>
              <a:t>.</a:t>
            </a:r>
            <a:endParaRPr lang="en-US" sz="1150" dirty="0"/>
          </a:p>
        </p:txBody>
      </p:sp>
      <p:sp>
        <p:nvSpPr>
          <p:cNvPr id="17" name="Rectangle 16"/>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484610"/>
            <a:ext cx="10868745" cy="590649"/>
          </a:xfrm>
          <a:prstGeom prst="rect">
            <a:avLst/>
          </a:prstGeom>
          <a:noFill/>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AI Techniques Used</a:t>
            </a:r>
            <a:endParaRPr lang="en-US" sz="370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53283"/>
            <a:ext cx="472468" cy="472480"/>
          </a:xfrm>
          <a:prstGeom prst="rect">
            <a:avLst/>
          </a:prstGeom>
        </p:spPr>
      </p:pic>
      <p:sp>
        <p:nvSpPr>
          <p:cNvPr id="4" name="Text 1"/>
          <p:cNvSpPr/>
          <p:nvPr/>
        </p:nvSpPr>
        <p:spPr>
          <a:xfrm>
            <a:off x="1370177" y="2453283"/>
            <a:ext cx="4607504" cy="295275"/>
          </a:xfrm>
          <a:prstGeom prst="rect">
            <a:avLst/>
          </a:prstGeom>
          <a:noFill/>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Machine Learning</a:t>
            </a:r>
            <a:endParaRPr lang="en-US" sz="1850" dirty="0"/>
          </a:p>
        </p:txBody>
      </p:sp>
      <p:sp>
        <p:nvSpPr>
          <p:cNvPr id="5" name="Text 2"/>
          <p:cNvSpPr/>
          <p:nvPr/>
        </p:nvSpPr>
        <p:spPr>
          <a:xfrm>
            <a:off x="1370177" y="2861965"/>
            <a:ext cx="4607504"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Learns from historical disaster data to predict future events.</a:t>
            </a:r>
            <a:endParaRPr lang="en-US" sz="145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13915" y="2453283"/>
            <a:ext cx="472468" cy="472480"/>
          </a:xfrm>
          <a:prstGeom prst="rect">
            <a:avLst/>
          </a:prstGeom>
        </p:spPr>
      </p:pic>
      <p:sp>
        <p:nvSpPr>
          <p:cNvPr id="7" name="Text 3"/>
          <p:cNvSpPr/>
          <p:nvPr/>
        </p:nvSpPr>
        <p:spPr>
          <a:xfrm>
            <a:off x="6922617" y="2453283"/>
            <a:ext cx="4607603" cy="295275"/>
          </a:xfrm>
          <a:prstGeom prst="rect">
            <a:avLst/>
          </a:prstGeom>
          <a:noFill/>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Deep Learning</a:t>
            </a:r>
            <a:endParaRPr lang="en-US" sz="1850" dirty="0"/>
          </a:p>
        </p:txBody>
      </p:sp>
      <p:sp>
        <p:nvSpPr>
          <p:cNvPr id="8" name="Text 4"/>
          <p:cNvSpPr/>
          <p:nvPr/>
        </p:nvSpPr>
        <p:spPr>
          <a:xfrm>
            <a:off x="6922617" y="2861965"/>
            <a:ext cx="4607603"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Analyzes satellite images and video feeds for disaster identification.</a:t>
            </a:r>
            <a:endParaRPr lang="en-US" sz="1450" dirty="0"/>
          </a:p>
        </p:txBody>
      </p:sp>
      <p:pic>
        <p:nvPicPr>
          <p:cNvPr id="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844826"/>
            <a:ext cx="472468" cy="472480"/>
          </a:xfrm>
          <a:prstGeom prst="rect">
            <a:avLst/>
          </a:prstGeom>
        </p:spPr>
      </p:pic>
      <p:sp>
        <p:nvSpPr>
          <p:cNvPr id="10" name="Text 5"/>
          <p:cNvSpPr/>
          <p:nvPr/>
        </p:nvSpPr>
        <p:spPr>
          <a:xfrm>
            <a:off x="1370177" y="3844826"/>
            <a:ext cx="4607504" cy="295275"/>
          </a:xfrm>
          <a:prstGeom prst="rect">
            <a:avLst/>
          </a:prstGeom>
          <a:noFill/>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Computer Vision</a:t>
            </a:r>
            <a:endParaRPr lang="en-US" sz="1850" dirty="0"/>
          </a:p>
        </p:txBody>
      </p:sp>
      <p:sp>
        <p:nvSpPr>
          <p:cNvPr id="11" name="Text 6"/>
          <p:cNvSpPr/>
          <p:nvPr/>
        </p:nvSpPr>
        <p:spPr>
          <a:xfrm>
            <a:off x="1370177" y="4253508"/>
            <a:ext cx="4607504"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Detects smoke, fire, floods, and damaged infrastructure from images.</a:t>
            </a:r>
            <a:endParaRPr lang="en-US" sz="1450" dirty="0"/>
          </a:p>
        </p:txBody>
      </p:sp>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13915" y="3844826"/>
            <a:ext cx="472468" cy="472480"/>
          </a:xfrm>
          <a:prstGeom prst="rect">
            <a:avLst/>
          </a:prstGeom>
        </p:spPr>
      </p:pic>
      <p:sp>
        <p:nvSpPr>
          <p:cNvPr id="13" name="Text 7"/>
          <p:cNvSpPr/>
          <p:nvPr/>
        </p:nvSpPr>
        <p:spPr>
          <a:xfrm>
            <a:off x="6922617" y="3844826"/>
            <a:ext cx="4607603" cy="295275"/>
          </a:xfrm>
          <a:prstGeom prst="rect">
            <a:avLst/>
          </a:prstGeom>
          <a:noFill/>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Natural Language Processing</a:t>
            </a:r>
            <a:endParaRPr lang="en-US" sz="1850" dirty="0"/>
          </a:p>
        </p:txBody>
      </p:sp>
      <p:sp>
        <p:nvSpPr>
          <p:cNvPr id="14" name="Text 8"/>
          <p:cNvSpPr/>
          <p:nvPr/>
        </p:nvSpPr>
        <p:spPr>
          <a:xfrm>
            <a:off x="6922617" y="4253508"/>
            <a:ext cx="4607603" cy="604838"/>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Analyzes social media and news reports to identify disaster-related information.</a:t>
            </a:r>
            <a:endParaRPr lang="en-US" sz="1450" dirty="0"/>
          </a:p>
        </p:txBody>
      </p:sp>
      <p:sp>
        <p:nvSpPr>
          <p:cNvPr id="15" name="Text 9"/>
          <p:cNvSpPr/>
          <p:nvPr/>
        </p:nvSpPr>
        <p:spPr>
          <a:xfrm>
            <a:off x="661475" y="5070971"/>
            <a:ext cx="11478330" cy="302419"/>
          </a:xfrm>
          <a:prstGeom prst="rect">
            <a:avLst/>
          </a:prstGeom>
          <a:noFill/>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These technologies improve the accuracy and speed of disaster detection.</a:t>
            </a:r>
            <a:endParaRPr lang="en-US" sz="1450" dirty="0"/>
          </a:p>
        </p:txBody>
      </p:sp>
      <p:sp>
        <p:nvSpPr>
          <p:cNvPr id="17" name="Rectangle 16"/>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35707"/>
            <a:ext cx="10868745" cy="590649"/>
          </a:xfrm>
          <a:prstGeom prst="rect">
            <a:avLst/>
          </a:prstGeom>
          <a:noFill/>
        </p:spPr>
        <p:txBody>
          <a:bodyPr wrap="none" lIns="0" tIns="0" rIns="0" bIns="0" rtlCol="0" anchor="t"/>
          <a:lstStyle/>
          <a:p>
            <a:pPr marL="0" indent="0" algn="l">
              <a:lnSpc>
                <a:spcPct val="104000"/>
              </a:lnSpc>
              <a:buNone/>
            </a:pPr>
            <a:r>
              <a:rPr lang="en-US" sz="3700" dirty="0">
                <a:solidFill>
                  <a:srgbClr val="152D47"/>
                </a:solidFill>
                <a:latin typeface="Crimson Pro SemiBold" pitchFamily="34" charset="0"/>
                <a:ea typeface="Crimson Pro SemiBold" pitchFamily="34" charset="-122"/>
                <a:cs typeface="Crimson Pro SemiBold" pitchFamily="34" charset="-120"/>
              </a:rPr>
              <a:t>Applications of AI-Based Disaster Detection</a:t>
            </a:r>
            <a:endParaRPr lang="en-US" sz="3700" dirty="0"/>
          </a:p>
        </p:txBody>
      </p:sp>
      <p:pic>
        <p:nvPicPr>
          <p:cNvPr id="3" name="Image 0" descr="preencoded.png"/>
          <p:cNvPicPr>
            <a:picLocks noChangeAspect="1"/>
          </p:cNvPicPr>
          <p:nvPr/>
        </p:nvPicPr>
        <p:blipFill>
          <a:blip r:embed="rId1"/>
          <a:stretch>
            <a:fillRect/>
          </a:stretch>
        </p:blipFill>
        <p:spPr>
          <a:xfrm>
            <a:off x="661475" y="1704380"/>
            <a:ext cx="558786" cy="345281"/>
          </a:xfrm>
          <a:prstGeom prst="rect">
            <a:avLst/>
          </a:prstGeom>
        </p:spPr>
      </p:pic>
      <p:sp>
        <p:nvSpPr>
          <p:cNvPr id="4" name="Text 1"/>
          <p:cNvSpPr/>
          <p:nvPr/>
        </p:nvSpPr>
        <p:spPr>
          <a:xfrm>
            <a:off x="1456495" y="1704380"/>
            <a:ext cx="1744917" cy="295275"/>
          </a:xfrm>
          <a:prstGeom prst="rect">
            <a:avLst/>
          </a:prstGeom>
          <a:noFill/>
        </p:spPr>
        <p:txBody>
          <a:bodyPr wrap="none" lIns="0" tIns="0" rIns="0" bIns="0" rtlCol="0" anchor="t"/>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Flood Detection</a:t>
            </a:r>
            <a:endParaRPr lang="en-US" sz="1850" dirty="0"/>
          </a:p>
        </p:txBody>
      </p:sp>
      <p:sp>
        <p:nvSpPr>
          <p:cNvPr id="5" name="Text 2"/>
          <p:cNvSpPr/>
          <p:nvPr/>
        </p:nvSpPr>
        <p:spPr>
          <a:xfrm>
            <a:off x="1456495" y="2113062"/>
            <a:ext cx="1744917"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Monitors rainfall, river levels, and weather conditions to predict flooding.</a:t>
            </a:r>
            <a:endParaRPr lang="en-US" sz="1450" dirty="0"/>
          </a:p>
        </p:txBody>
      </p:sp>
      <p:pic>
        <p:nvPicPr>
          <p:cNvPr id="6" name="Image 1" descr="preencoded.png"/>
          <p:cNvPicPr>
            <a:picLocks noChangeAspect="1"/>
          </p:cNvPicPr>
          <p:nvPr/>
        </p:nvPicPr>
        <p:blipFill>
          <a:blip r:embed="rId2"/>
          <a:stretch>
            <a:fillRect/>
          </a:stretch>
        </p:blipFill>
        <p:spPr>
          <a:xfrm>
            <a:off x="3437645" y="1704380"/>
            <a:ext cx="558786" cy="345281"/>
          </a:xfrm>
          <a:prstGeom prst="rect">
            <a:avLst/>
          </a:prstGeom>
        </p:spPr>
      </p:pic>
      <p:sp>
        <p:nvSpPr>
          <p:cNvPr id="7" name="Text 3"/>
          <p:cNvSpPr/>
          <p:nvPr/>
        </p:nvSpPr>
        <p:spPr>
          <a:xfrm>
            <a:off x="4232665" y="1704380"/>
            <a:ext cx="1745016"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Wildfire Detection</a:t>
            </a:r>
            <a:endParaRPr lang="en-US" sz="1850" dirty="0"/>
          </a:p>
        </p:txBody>
      </p:sp>
      <p:sp>
        <p:nvSpPr>
          <p:cNvPr id="8" name="Text 4"/>
          <p:cNvSpPr/>
          <p:nvPr/>
        </p:nvSpPr>
        <p:spPr>
          <a:xfrm>
            <a:off x="4232665" y="2408337"/>
            <a:ext cx="1745016"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Detects smoke and heat patterns using cameras and satellite imagery.</a:t>
            </a:r>
            <a:endParaRPr lang="en-US" sz="1450" dirty="0"/>
          </a:p>
        </p:txBody>
      </p:sp>
      <p:pic>
        <p:nvPicPr>
          <p:cNvPr id="9" name="Image 2" descr="preencoded.png"/>
          <p:cNvPicPr>
            <a:picLocks noChangeAspect="1"/>
          </p:cNvPicPr>
          <p:nvPr/>
        </p:nvPicPr>
        <p:blipFill>
          <a:blip r:embed="rId3"/>
          <a:stretch>
            <a:fillRect/>
          </a:stretch>
        </p:blipFill>
        <p:spPr>
          <a:xfrm>
            <a:off x="6213915" y="1704380"/>
            <a:ext cx="558786" cy="345281"/>
          </a:xfrm>
          <a:prstGeom prst="rect">
            <a:avLst/>
          </a:prstGeom>
        </p:spPr>
      </p:pic>
      <p:sp>
        <p:nvSpPr>
          <p:cNvPr id="10" name="Text 5"/>
          <p:cNvSpPr/>
          <p:nvPr/>
        </p:nvSpPr>
        <p:spPr>
          <a:xfrm>
            <a:off x="7008935" y="1704380"/>
            <a:ext cx="1745016"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Earthquake Monitoring</a:t>
            </a:r>
            <a:endParaRPr lang="en-US" sz="1850" dirty="0"/>
          </a:p>
        </p:txBody>
      </p:sp>
      <p:sp>
        <p:nvSpPr>
          <p:cNvPr id="11" name="Text 6"/>
          <p:cNvSpPr/>
          <p:nvPr/>
        </p:nvSpPr>
        <p:spPr>
          <a:xfrm>
            <a:off x="7008935" y="2408337"/>
            <a:ext cx="1745016"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Analyzes seismic activity data to identify earthquake risks.</a:t>
            </a:r>
            <a:endParaRPr lang="en-US" sz="1450" dirty="0"/>
          </a:p>
        </p:txBody>
      </p:sp>
      <p:pic>
        <p:nvPicPr>
          <p:cNvPr id="12" name="Image 3" descr="preencoded.png"/>
          <p:cNvPicPr>
            <a:picLocks noChangeAspect="1"/>
          </p:cNvPicPr>
          <p:nvPr/>
        </p:nvPicPr>
        <p:blipFill>
          <a:blip r:embed="rId4"/>
          <a:stretch>
            <a:fillRect/>
          </a:stretch>
        </p:blipFill>
        <p:spPr>
          <a:xfrm>
            <a:off x="8990184" y="1704380"/>
            <a:ext cx="558786" cy="345281"/>
          </a:xfrm>
          <a:prstGeom prst="rect">
            <a:avLst/>
          </a:prstGeom>
        </p:spPr>
      </p:pic>
      <p:sp>
        <p:nvSpPr>
          <p:cNvPr id="13" name="Text 7"/>
          <p:cNvSpPr/>
          <p:nvPr/>
        </p:nvSpPr>
        <p:spPr>
          <a:xfrm>
            <a:off x="9785204" y="1704380"/>
            <a:ext cx="1745016"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Landslide Prediction</a:t>
            </a:r>
            <a:endParaRPr lang="en-US" sz="1850" dirty="0"/>
          </a:p>
        </p:txBody>
      </p:sp>
      <p:sp>
        <p:nvSpPr>
          <p:cNvPr id="14" name="Text 8"/>
          <p:cNvSpPr/>
          <p:nvPr/>
        </p:nvSpPr>
        <p:spPr>
          <a:xfrm>
            <a:off x="9785204" y="2408337"/>
            <a:ext cx="1745016" cy="907256"/>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Uses soil moisture and terrain data to forecast landslides.</a:t>
            </a:r>
            <a:endParaRPr lang="en-US" sz="1450" dirty="0"/>
          </a:p>
        </p:txBody>
      </p:sp>
      <p:pic>
        <p:nvPicPr>
          <p:cNvPr id="15" name="Image 4" descr="preencoded.png"/>
          <p:cNvPicPr>
            <a:picLocks noChangeAspect="1"/>
          </p:cNvPicPr>
          <p:nvPr/>
        </p:nvPicPr>
        <p:blipFill>
          <a:blip r:embed="rId5"/>
          <a:stretch>
            <a:fillRect/>
          </a:stretch>
        </p:blipFill>
        <p:spPr>
          <a:xfrm>
            <a:off x="661475" y="3996035"/>
            <a:ext cx="558786" cy="345281"/>
          </a:xfrm>
          <a:prstGeom prst="rect">
            <a:avLst/>
          </a:prstGeom>
        </p:spPr>
      </p:pic>
      <p:sp>
        <p:nvSpPr>
          <p:cNvPr id="16" name="Text 9"/>
          <p:cNvSpPr/>
          <p:nvPr/>
        </p:nvSpPr>
        <p:spPr>
          <a:xfrm>
            <a:off x="1456495" y="3996035"/>
            <a:ext cx="1744917" cy="590550"/>
          </a:xfrm>
          <a:prstGeom prst="rect">
            <a:avLst/>
          </a:prstGeom>
          <a:noFill/>
        </p:spPr>
        <p:txBody>
          <a:bodyPr wrap="square" lIns="0" tIns="0" rIns="0" bIns="0" rtlCol="0" anchor="t">
            <a:normAutofit/>
          </a:bodyPr>
          <a:lstStyle/>
          <a:p>
            <a:pPr marL="0" indent="0" algn="l">
              <a:lnSpc>
                <a:spcPct val="104000"/>
              </a:lnSpc>
              <a:buNone/>
            </a:pPr>
            <a:r>
              <a:rPr lang="en-US" sz="1850" dirty="0">
                <a:solidFill>
                  <a:srgbClr val="4C4C4D"/>
                </a:solidFill>
                <a:latin typeface="Crimson Pro SemiBold" pitchFamily="34" charset="0"/>
                <a:ea typeface="Crimson Pro SemiBold" pitchFamily="34" charset="-122"/>
                <a:cs typeface="Crimson Pro SemiBold" pitchFamily="34" charset="-120"/>
              </a:rPr>
              <a:t>Storm and Cyclone Tracking</a:t>
            </a:r>
            <a:endParaRPr lang="en-US" sz="1850" dirty="0"/>
          </a:p>
        </p:txBody>
      </p:sp>
      <p:sp>
        <p:nvSpPr>
          <p:cNvPr id="17" name="Text 10"/>
          <p:cNvSpPr/>
          <p:nvPr/>
        </p:nvSpPr>
        <p:spPr>
          <a:xfrm>
            <a:off x="1456495" y="4699992"/>
            <a:ext cx="1744917" cy="907256"/>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Predicts cyclone paths and intensity using weather data.</a:t>
            </a:r>
            <a:endParaRPr lang="en-US" sz="1450" dirty="0"/>
          </a:p>
        </p:txBody>
      </p:sp>
      <p:sp>
        <p:nvSpPr>
          <p:cNvPr id="18" name="Text 11"/>
          <p:cNvSpPr/>
          <p:nvPr/>
        </p:nvSpPr>
        <p:spPr>
          <a:xfrm>
            <a:off x="661475" y="5828764"/>
            <a:ext cx="11478330" cy="302419"/>
          </a:xfrm>
          <a:prstGeom prst="rect">
            <a:avLst/>
          </a:prstGeom>
          <a:noFill/>
        </p:spPr>
        <p:txBody>
          <a:bodyPr wrap="none" lIns="0" tIns="0" rIns="0" bIns="0" rtlCol="0" anchor="t"/>
          <a:lstStyle/>
          <a:p>
            <a:pPr marL="0" indent="0" algn="l">
              <a:lnSpc>
                <a:spcPct val="133000"/>
              </a:lnSpc>
              <a:buNone/>
            </a:pPr>
            <a:r>
              <a:rPr lang="en-US" sz="1450" dirty="0">
                <a:solidFill>
                  <a:srgbClr val="4C4C4D"/>
                </a:solidFill>
                <a:latin typeface="Heebo" pitchFamily="34" charset="0"/>
                <a:ea typeface="Heebo" pitchFamily="34" charset="-122"/>
                <a:cs typeface="Heebo" pitchFamily="34" charset="-120"/>
              </a:rPr>
              <a:t>These applications help save lives through early warning systems.</a:t>
            </a:r>
            <a:endParaRPr lang="en-US" sz="1450" dirty="0"/>
          </a:p>
        </p:txBody>
      </p:sp>
      <p:sp>
        <p:nvSpPr>
          <p:cNvPr id="19" name="Rectangle 18"/>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1" name="Picture 20" descr="Example-of-a-flood-detection-context"/>
          <p:cNvPicPr>
            <a:picLocks noChangeAspect="1"/>
          </p:cNvPicPr>
          <p:nvPr/>
        </p:nvPicPr>
        <p:blipFill>
          <a:blip r:embed="rId6"/>
          <a:stretch>
            <a:fillRect/>
          </a:stretch>
        </p:blipFill>
        <p:spPr>
          <a:xfrm>
            <a:off x="593090" y="1704340"/>
            <a:ext cx="559435" cy="474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68834"/>
            <a:ext cx="10868745" cy="472480"/>
          </a:xfrm>
          <a:prstGeom prst="rect">
            <a:avLst/>
          </a:prstGeom>
          <a:noFill/>
        </p:spPr>
        <p:txBody>
          <a:bodyPr wrap="none" lIns="0" tIns="0" rIns="0" bIns="0" rtlCol="0" anchor="t"/>
          <a:lstStyle/>
          <a:p>
            <a:pPr marL="0" indent="0" algn="l">
              <a:lnSpc>
                <a:spcPct val="104000"/>
              </a:lnSpc>
              <a:buNone/>
            </a:pPr>
            <a:r>
              <a:rPr lang="en-US" sz="2950" dirty="0">
                <a:solidFill>
                  <a:srgbClr val="152D47"/>
                </a:solidFill>
                <a:latin typeface="Crimson Pro SemiBold" pitchFamily="34" charset="0"/>
                <a:ea typeface="Crimson Pro SemiBold" pitchFamily="34" charset="-122"/>
                <a:cs typeface="Crimson Pro SemiBold" pitchFamily="34" charset="-120"/>
              </a:rPr>
              <a:t>Advantages of AI-Based Disaster Detection</a:t>
            </a:r>
            <a:endParaRPr lang="en-US" sz="2950" dirty="0"/>
          </a:p>
        </p:txBody>
      </p:sp>
      <p:sp>
        <p:nvSpPr>
          <p:cNvPr id="3" name="Shape 1"/>
          <p:cNvSpPr/>
          <p:nvPr/>
        </p:nvSpPr>
        <p:spPr>
          <a:xfrm>
            <a:off x="661475" y="1383209"/>
            <a:ext cx="5373851" cy="1403449"/>
          </a:xfrm>
          <a:prstGeom prst="roundRect">
            <a:avLst>
              <a:gd name="adj" fmla="val 1616"/>
            </a:avLst>
          </a:prstGeom>
          <a:solidFill>
            <a:srgbClr val="F2EEEE"/>
          </a:solidFill>
        </p:spPr>
      </p:sp>
      <p:sp>
        <p:nvSpPr>
          <p:cNvPr id="4" name="Shape 2"/>
          <p:cNvSpPr/>
          <p:nvPr/>
        </p:nvSpPr>
        <p:spPr>
          <a:xfrm>
            <a:off x="812680" y="1534418"/>
            <a:ext cx="453617" cy="453628"/>
          </a:xfrm>
          <a:prstGeom prst="ellipse">
            <a:avLst/>
          </a:prstGeom>
          <a:solidFill>
            <a:srgbClr val="000000"/>
          </a:solidFill>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7395" y="1659136"/>
            <a:ext cx="204088" cy="204093"/>
          </a:xfrm>
          <a:prstGeom prst="rect">
            <a:avLst/>
          </a:prstGeom>
        </p:spPr>
      </p:pic>
      <p:sp>
        <p:nvSpPr>
          <p:cNvPr id="6" name="Text 3"/>
          <p:cNvSpPr/>
          <p:nvPr/>
        </p:nvSpPr>
        <p:spPr>
          <a:xfrm>
            <a:off x="812680" y="2108994"/>
            <a:ext cx="5071440" cy="236240"/>
          </a:xfrm>
          <a:prstGeom prst="rect">
            <a:avLst/>
          </a:prstGeom>
          <a:noFill/>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Early Warning</a:t>
            </a:r>
            <a:endParaRPr lang="en-US" sz="1450" dirty="0"/>
          </a:p>
        </p:txBody>
      </p:sp>
      <p:sp>
        <p:nvSpPr>
          <p:cNvPr id="7" name="Text 4"/>
          <p:cNvSpPr/>
          <p:nvPr/>
        </p:nvSpPr>
        <p:spPr>
          <a:xfrm>
            <a:off x="812680" y="2417762"/>
            <a:ext cx="5071440" cy="217686"/>
          </a:xfrm>
          <a:prstGeom prst="rect">
            <a:avLst/>
          </a:prstGeom>
          <a:noFill/>
        </p:spPr>
        <p:txBody>
          <a:bodyPr wrap="none" lIns="0" tIns="0" rIns="0" bIns="0" rtlCol="0" anchor="t"/>
          <a:lstStyle/>
          <a:p>
            <a:pPr marL="0" indent="0" algn="l">
              <a:lnSpc>
                <a:spcPct val="120000"/>
              </a:lnSpc>
              <a:buNone/>
            </a:pPr>
            <a:r>
              <a:rPr lang="en-US" sz="1150" dirty="0">
                <a:solidFill>
                  <a:srgbClr val="4C4C4D"/>
                </a:solidFill>
                <a:latin typeface="Heebo" pitchFamily="34" charset="0"/>
                <a:ea typeface="Heebo" pitchFamily="34" charset="-122"/>
                <a:cs typeface="Heebo" pitchFamily="34" charset="-120"/>
              </a:rPr>
              <a:t>Timely disaster alerts before events escalate</a:t>
            </a:r>
            <a:endParaRPr lang="en-US" sz="1150" dirty="0"/>
          </a:p>
        </p:txBody>
      </p:sp>
      <p:sp>
        <p:nvSpPr>
          <p:cNvPr id="8" name="Shape 5"/>
          <p:cNvSpPr/>
          <p:nvPr/>
        </p:nvSpPr>
        <p:spPr>
          <a:xfrm>
            <a:off x="6156270" y="1383209"/>
            <a:ext cx="5373950" cy="1403449"/>
          </a:xfrm>
          <a:prstGeom prst="roundRect">
            <a:avLst>
              <a:gd name="adj" fmla="val 1616"/>
            </a:avLst>
          </a:prstGeom>
          <a:solidFill>
            <a:srgbClr val="F2EEEE"/>
          </a:solidFill>
        </p:spPr>
      </p:sp>
      <p:sp>
        <p:nvSpPr>
          <p:cNvPr id="9" name="Shape 6"/>
          <p:cNvSpPr/>
          <p:nvPr/>
        </p:nvSpPr>
        <p:spPr>
          <a:xfrm>
            <a:off x="6307476" y="1534418"/>
            <a:ext cx="453617" cy="453628"/>
          </a:xfrm>
          <a:prstGeom prst="ellipse">
            <a:avLst/>
          </a:prstGeom>
          <a:solidFill>
            <a:srgbClr val="000000"/>
          </a:solidFill>
        </p:spPr>
      </p:sp>
      <p:pic>
        <p:nvPicPr>
          <p:cNvPr id="10"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32191" y="1659136"/>
            <a:ext cx="204088" cy="204093"/>
          </a:xfrm>
          <a:prstGeom prst="rect">
            <a:avLst/>
          </a:prstGeom>
        </p:spPr>
      </p:pic>
      <p:sp>
        <p:nvSpPr>
          <p:cNvPr id="11" name="Text 7"/>
          <p:cNvSpPr/>
          <p:nvPr/>
        </p:nvSpPr>
        <p:spPr>
          <a:xfrm>
            <a:off x="6307476" y="2108994"/>
            <a:ext cx="5071539" cy="236240"/>
          </a:xfrm>
          <a:prstGeom prst="rect">
            <a:avLst/>
          </a:prstGeom>
          <a:noFill/>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Saves Lives</a:t>
            </a:r>
            <a:endParaRPr lang="en-US" sz="1450" dirty="0"/>
          </a:p>
        </p:txBody>
      </p:sp>
      <p:sp>
        <p:nvSpPr>
          <p:cNvPr id="12" name="Text 8"/>
          <p:cNvSpPr/>
          <p:nvPr/>
        </p:nvSpPr>
        <p:spPr>
          <a:xfrm>
            <a:off x="6307476" y="2417762"/>
            <a:ext cx="5071539" cy="217686"/>
          </a:xfrm>
          <a:prstGeom prst="rect">
            <a:avLst/>
          </a:prstGeom>
          <a:noFill/>
        </p:spPr>
        <p:txBody>
          <a:bodyPr wrap="none" lIns="0" tIns="0" rIns="0" bIns="0" rtlCol="0" anchor="t"/>
          <a:lstStyle/>
          <a:p>
            <a:pPr marL="0" indent="0" algn="l">
              <a:lnSpc>
                <a:spcPct val="120000"/>
              </a:lnSpc>
              <a:buNone/>
            </a:pPr>
            <a:r>
              <a:rPr lang="en-US" sz="1150" dirty="0">
                <a:solidFill>
                  <a:srgbClr val="4C4C4D"/>
                </a:solidFill>
                <a:latin typeface="Heebo" pitchFamily="34" charset="0"/>
                <a:ea typeface="Heebo" pitchFamily="34" charset="-122"/>
                <a:cs typeface="Heebo" pitchFamily="34" charset="-120"/>
              </a:rPr>
              <a:t>Reduced loss of human life through proactive action</a:t>
            </a:r>
            <a:endParaRPr lang="en-US" sz="1150" dirty="0"/>
          </a:p>
        </p:txBody>
      </p:sp>
      <p:sp>
        <p:nvSpPr>
          <p:cNvPr id="13" name="Shape 9"/>
          <p:cNvSpPr/>
          <p:nvPr/>
        </p:nvSpPr>
        <p:spPr>
          <a:xfrm>
            <a:off x="661475" y="2907605"/>
            <a:ext cx="5373851" cy="1403449"/>
          </a:xfrm>
          <a:prstGeom prst="roundRect">
            <a:avLst>
              <a:gd name="adj" fmla="val 1616"/>
            </a:avLst>
          </a:prstGeom>
          <a:solidFill>
            <a:srgbClr val="F2EEEE"/>
          </a:solidFill>
        </p:spPr>
      </p:sp>
      <p:sp>
        <p:nvSpPr>
          <p:cNvPr id="14" name="Shape 10"/>
          <p:cNvSpPr/>
          <p:nvPr/>
        </p:nvSpPr>
        <p:spPr>
          <a:xfrm>
            <a:off x="812680" y="3058815"/>
            <a:ext cx="453617" cy="453628"/>
          </a:xfrm>
          <a:prstGeom prst="ellipse">
            <a:avLst/>
          </a:prstGeom>
          <a:solidFill>
            <a:srgbClr val="000000"/>
          </a:solidFill>
        </p:spPr>
      </p:sp>
      <p:pic>
        <p:nvPicPr>
          <p:cNvPr id="15"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7395" y="3183533"/>
            <a:ext cx="204088" cy="204093"/>
          </a:xfrm>
          <a:prstGeom prst="rect">
            <a:avLst/>
          </a:prstGeom>
        </p:spPr>
      </p:pic>
      <p:sp>
        <p:nvSpPr>
          <p:cNvPr id="16" name="Text 11"/>
          <p:cNvSpPr/>
          <p:nvPr/>
        </p:nvSpPr>
        <p:spPr>
          <a:xfrm>
            <a:off x="812680" y="3633391"/>
            <a:ext cx="5071440" cy="236240"/>
          </a:xfrm>
          <a:prstGeom prst="rect">
            <a:avLst/>
          </a:prstGeom>
          <a:noFill/>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Rapid Response</a:t>
            </a:r>
            <a:endParaRPr lang="en-US" sz="1450" dirty="0"/>
          </a:p>
        </p:txBody>
      </p:sp>
      <p:sp>
        <p:nvSpPr>
          <p:cNvPr id="17" name="Text 12"/>
          <p:cNvSpPr/>
          <p:nvPr/>
        </p:nvSpPr>
        <p:spPr>
          <a:xfrm>
            <a:off x="812680" y="3951684"/>
            <a:ext cx="5071440" cy="217686"/>
          </a:xfrm>
          <a:prstGeom prst="rect">
            <a:avLst/>
          </a:prstGeom>
          <a:noFill/>
        </p:spPr>
        <p:txBody>
          <a:bodyPr wrap="none" lIns="0" tIns="0" rIns="0" bIns="0" rtlCol="0" anchor="t"/>
          <a:lstStyle/>
          <a:p>
            <a:pPr marL="0" indent="0" algn="l">
              <a:lnSpc>
                <a:spcPct val="120000"/>
              </a:lnSpc>
              <a:buNone/>
            </a:pPr>
            <a:r>
              <a:rPr lang="en-US" sz="1150" dirty="0">
                <a:solidFill>
                  <a:srgbClr val="4C4C4D"/>
                </a:solidFill>
                <a:latin typeface="Heebo" pitchFamily="34" charset="0"/>
                <a:ea typeface="Heebo" pitchFamily="34" charset="-122"/>
                <a:cs typeface="Heebo" pitchFamily="34" charset="-120"/>
              </a:rPr>
              <a:t>Improved emergency response and coordination</a:t>
            </a:r>
            <a:endParaRPr lang="en-US" sz="1150" dirty="0"/>
          </a:p>
        </p:txBody>
      </p:sp>
      <p:sp>
        <p:nvSpPr>
          <p:cNvPr id="18" name="Shape 13"/>
          <p:cNvSpPr/>
          <p:nvPr/>
        </p:nvSpPr>
        <p:spPr>
          <a:xfrm>
            <a:off x="6156270" y="2907605"/>
            <a:ext cx="5373950" cy="1403449"/>
          </a:xfrm>
          <a:prstGeom prst="roundRect">
            <a:avLst>
              <a:gd name="adj" fmla="val 1616"/>
            </a:avLst>
          </a:prstGeom>
          <a:solidFill>
            <a:srgbClr val="F2EEEE"/>
          </a:solidFill>
        </p:spPr>
      </p:sp>
      <p:sp>
        <p:nvSpPr>
          <p:cNvPr id="19" name="Shape 14"/>
          <p:cNvSpPr/>
          <p:nvPr/>
        </p:nvSpPr>
        <p:spPr>
          <a:xfrm>
            <a:off x="6307476" y="3058815"/>
            <a:ext cx="453617" cy="453628"/>
          </a:xfrm>
          <a:prstGeom prst="ellipse">
            <a:avLst/>
          </a:prstGeom>
          <a:solidFill>
            <a:srgbClr val="000000"/>
          </a:solidFill>
        </p:spPr>
      </p:sp>
      <p:pic>
        <p:nvPicPr>
          <p:cNvPr id="2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32191" y="3183533"/>
            <a:ext cx="204088" cy="204093"/>
          </a:xfrm>
          <a:prstGeom prst="rect">
            <a:avLst/>
          </a:prstGeom>
        </p:spPr>
      </p:pic>
      <p:sp>
        <p:nvSpPr>
          <p:cNvPr id="21" name="Text 15"/>
          <p:cNvSpPr/>
          <p:nvPr/>
        </p:nvSpPr>
        <p:spPr>
          <a:xfrm>
            <a:off x="6307476" y="3633391"/>
            <a:ext cx="5071539" cy="236240"/>
          </a:xfrm>
          <a:prstGeom prst="rect">
            <a:avLst/>
          </a:prstGeom>
          <a:noFill/>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24/7 Monitoring</a:t>
            </a:r>
            <a:endParaRPr lang="en-US" sz="1450" dirty="0"/>
          </a:p>
        </p:txBody>
      </p:sp>
      <p:sp>
        <p:nvSpPr>
          <p:cNvPr id="22" name="Text 16"/>
          <p:cNvSpPr/>
          <p:nvPr/>
        </p:nvSpPr>
        <p:spPr>
          <a:xfrm>
            <a:off x="6307476" y="3942159"/>
            <a:ext cx="5071539" cy="217686"/>
          </a:xfrm>
          <a:prstGeom prst="rect">
            <a:avLst/>
          </a:prstGeom>
          <a:noFill/>
        </p:spPr>
        <p:txBody>
          <a:bodyPr wrap="none" lIns="0" tIns="0" rIns="0" bIns="0" rtlCol="0" anchor="t"/>
          <a:lstStyle/>
          <a:p>
            <a:pPr marL="0" indent="0" algn="l">
              <a:lnSpc>
                <a:spcPct val="120000"/>
              </a:lnSpc>
              <a:buNone/>
            </a:pPr>
            <a:r>
              <a:rPr lang="en-US" sz="1150" dirty="0">
                <a:solidFill>
                  <a:srgbClr val="4C4C4D"/>
                </a:solidFill>
                <a:latin typeface="Heebo" pitchFamily="34" charset="0"/>
                <a:ea typeface="Heebo" pitchFamily="34" charset="-122"/>
                <a:cs typeface="Heebo" pitchFamily="34" charset="-120"/>
              </a:rPr>
              <a:t>Continuous real-time monitoring without interruption</a:t>
            </a:r>
            <a:endParaRPr lang="en-US" sz="1150" dirty="0"/>
          </a:p>
        </p:txBody>
      </p:sp>
      <p:sp>
        <p:nvSpPr>
          <p:cNvPr id="23" name="Shape 17"/>
          <p:cNvSpPr/>
          <p:nvPr/>
        </p:nvSpPr>
        <p:spPr>
          <a:xfrm>
            <a:off x="661475" y="4432002"/>
            <a:ext cx="5373851" cy="1403449"/>
          </a:xfrm>
          <a:prstGeom prst="roundRect">
            <a:avLst>
              <a:gd name="adj" fmla="val 1616"/>
            </a:avLst>
          </a:prstGeom>
          <a:solidFill>
            <a:srgbClr val="F2EEEE"/>
          </a:solidFill>
        </p:spPr>
      </p:sp>
      <p:sp>
        <p:nvSpPr>
          <p:cNvPr id="24" name="Shape 18"/>
          <p:cNvSpPr/>
          <p:nvPr/>
        </p:nvSpPr>
        <p:spPr>
          <a:xfrm>
            <a:off x="812680" y="4583212"/>
            <a:ext cx="453617" cy="453628"/>
          </a:xfrm>
          <a:prstGeom prst="ellipse">
            <a:avLst/>
          </a:prstGeom>
          <a:solidFill>
            <a:srgbClr val="000000"/>
          </a:solidFill>
        </p:spPr>
      </p:sp>
      <p:pic>
        <p:nvPicPr>
          <p:cNvPr id="25"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7395" y="4707930"/>
            <a:ext cx="204088" cy="204093"/>
          </a:xfrm>
          <a:prstGeom prst="rect">
            <a:avLst/>
          </a:prstGeom>
        </p:spPr>
      </p:pic>
      <p:sp>
        <p:nvSpPr>
          <p:cNvPr id="26" name="Text 19"/>
          <p:cNvSpPr/>
          <p:nvPr/>
        </p:nvSpPr>
        <p:spPr>
          <a:xfrm>
            <a:off x="812680" y="5157788"/>
            <a:ext cx="5071440" cy="236240"/>
          </a:xfrm>
          <a:prstGeom prst="rect">
            <a:avLst/>
          </a:prstGeom>
          <a:noFill/>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Accurate Predictions</a:t>
            </a:r>
            <a:endParaRPr lang="en-US" sz="1450" dirty="0"/>
          </a:p>
        </p:txBody>
      </p:sp>
      <p:sp>
        <p:nvSpPr>
          <p:cNvPr id="27" name="Text 20"/>
          <p:cNvSpPr/>
          <p:nvPr/>
        </p:nvSpPr>
        <p:spPr>
          <a:xfrm>
            <a:off x="812680" y="5466556"/>
            <a:ext cx="5071440" cy="217686"/>
          </a:xfrm>
          <a:prstGeom prst="rect">
            <a:avLst/>
          </a:prstGeom>
          <a:noFill/>
        </p:spPr>
        <p:txBody>
          <a:bodyPr wrap="none" lIns="0" tIns="0" rIns="0" bIns="0" rtlCol="0" anchor="t"/>
          <a:lstStyle/>
          <a:p>
            <a:pPr marL="0" indent="0" algn="l">
              <a:lnSpc>
                <a:spcPct val="120000"/>
              </a:lnSpc>
              <a:buNone/>
            </a:pPr>
            <a:r>
              <a:rPr lang="en-US" sz="1150" dirty="0">
                <a:solidFill>
                  <a:srgbClr val="4C4C4D"/>
                </a:solidFill>
                <a:latin typeface="Heebo" pitchFamily="34" charset="0"/>
                <a:ea typeface="Heebo" pitchFamily="34" charset="-122"/>
                <a:cs typeface="Heebo" pitchFamily="34" charset="-120"/>
              </a:rPr>
              <a:t>Accurate prediction, analysis, and resource allocation</a:t>
            </a:r>
            <a:endParaRPr lang="en-US" sz="1150" dirty="0"/>
          </a:p>
        </p:txBody>
      </p:sp>
      <p:sp>
        <p:nvSpPr>
          <p:cNvPr id="28" name="Shape 21"/>
          <p:cNvSpPr/>
          <p:nvPr/>
        </p:nvSpPr>
        <p:spPr>
          <a:xfrm>
            <a:off x="6156270" y="4432002"/>
            <a:ext cx="5373950" cy="1403449"/>
          </a:xfrm>
          <a:prstGeom prst="roundRect">
            <a:avLst>
              <a:gd name="adj" fmla="val 1616"/>
            </a:avLst>
          </a:prstGeom>
          <a:solidFill>
            <a:srgbClr val="F2EEEE"/>
          </a:solidFill>
        </p:spPr>
      </p:sp>
      <p:sp>
        <p:nvSpPr>
          <p:cNvPr id="29" name="Shape 22"/>
          <p:cNvSpPr/>
          <p:nvPr/>
        </p:nvSpPr>
        <p:spPr>
          <a:xfrm>
            <a:off x="6307476" y="4583212"/>
            <a:ext cx="453617" cy="453628"/>
          </a:xfrm>
          <a:prstGeom prst="ellipse">
            <a:avLst/>
          </a:prstGeom>
          <a:solidFill>
            <a:srgbClr val="000000"/>
          </a:solidFill>
        </p:spPr>
      </p:sp>
      <p:pic>
        <p:nvPicPr>
          <p:cNvPr id="30"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32191" y="4707930"/>
            <a:ext cx="204088" cy="204093"/>
          </a:xfrm>
          <a:prstGeom prst="rect">
            <a:avLst/>
          </a:prstGeom>
        </p:spPr>
      </p:pic>
      <p:sp>
        <p:nvSpPr>
          <p:cNvPr id="31" name="Text 23"/>
          <p:cNvSpPr/>
          <p:nvPr/>
        </p:nvSpPr>
        <p:spPr>
          <a:xfrm>
            <a:off x="6307476" y="5157788"/>
            <a:ext cx="5071539" cy="236240"/>
          </a:xfrm>
          <a:prstGeom prst="rect">
            <a:avLst/>
          </a:prstGeom>
          <a:noFill/>
        </p:spPr>
        <p:txBody>
          <a:bodyPr wrap="none" lIns="0" tIns="0" rIns="0" bIns="0" rtlCol="0" anchor="t"/>
          <a:lstStyle/>
          <a:p>
            <a:pPr marL="0" indent="0" algn="l">
              <a:lnSpc>
                <a:spcPct val="104000"/>
              </a:lnSpc>
              <a:buNone/>
            </a:pPr>
            <a:r>
              <a:rPr lang="en-US" sz="1450" dirty="0">
                <a:solidFill>
                  <a:srgbClr val="4C4C4D"/>
                </a:solidFill>
                <a:latin typeface="Crimson Pro SemiBold" pitchFamily="34" charset="0"/>
                <a:ea typeface="Crimson Pro SemiBold" pitchFamily="34" charset="-122"/>
                <a:cs typeface="Crimson Pro SemiBold" pitchFamily="34" charset="-120"/>
              </a:rPr>
              <a:t>Better Coordination</a:t>
            </a:r>
            <a:endParaRPr lang="en-US" sz="1450" dirty="0"/>
          </a:p>
        </p:txBody>
      </p:sp>
      <p:sp>
        <p:nvSpPr>
          <p:cNvPr id="32" name="Text 24"/>
          <p:cNvSpPr/>
          <p:nvPr/>
        </p:nvSpPr>
        <p:spPr>
          <a:xfrm>
            <a:off x="6307476" y="5466556"/>
            <a:ext cx="5071539" cy="217686"/>
          </a:xfrm>
          <a:prstGeom prst="rect">
            <a:avLst/>
          </a:prstGeom>
          <a:noFill/>
        </p:spPr>
        <p:txBody>
          <a:bodyPr wrap="none" lIns="0" tIns="0" rIns="0" bIns="0" rtlCol="0" anchor="t"/>
          <a:lstStyle/>
          <a:p>
            <a:pPr marL="0" indent="0" algn="l">
              <a:lnSpc>
                <a:spcPct val="120000"/>
              </a:lnSpc>
              <a:buNone/>
            </a:pPr>
            <a:r>
              <a:rPr lang="en-US" sz="1150" dirty="0">
                <a:solidFill>
                  <a:srgbClr val="4C4C4D"/>
                </a:solidFill>
                <a:latin typeface="Heebo" pitchFamily="34" charset="0"/>
                <a:ea typeface="Heebo" pitchFamily="34" charset="-122"/>
                <a:cs typeface="Heebo" pitchFamily="34" charset="-120"/>
              </a:rPr>
              <a:t>Efficient coordination among rescue teams</a:t>
            </a:r>
            <a:endParaRPr lang="en-US" sz="1150" dirty="0"/>
          </a:p>
        </p:txBody>
      </p:sp>
      <p:sp>
        <p:nvSpPr>
          <p:cNvPr id="33" name="Text 25"/>
          <p:cNvSpPr/>
          <p:nvPr/>
        </p:nvSpPr>
        <p:spPr>
          <a:xfrm>
            <a:off x="661475" y="5971480"/>
            <a:ext cx="11478330" cy="217686"/>
          </a:xfrm>
          <a:prstGeom prst="rect">
            <a:avLst/>
          </a:prstGeom>
          <a:noFill/>
        </p:spPr>
        <p:txBody>
          <a:bodyPr wrap="none" lIns="0" tIns="0" rIns="0" bIns="0" rtlCol="0" anchor="t"/>
          <a:lstStyle/>
          <a:p>
            <a:pPr marL="0" indent="0" algn="l">
              <a:lnSpc>
                <a:spcPct val="120000"/>
              </a:lnSpc>
              <a:buNone/>
            </a:pPr>
            <a:r>
              <a:rPr lang="en-US" sz="1150" dirty="0">
                <a:solidFill>
                  <a:srgbClr val="4C4C4D"/>
                </a:solidFill>
                <a:latin typeface="Heebo" pitchFamily="34" charset="0"/>
                <a:ea typeface="Heebo" pitchFamily="34" charset="-122"/>
                <a:cs typeface="Heebo" pitchFamily="34" charset="-120"/>
              </a:rPr>
              <a:t>AI enables authorities to take preventive actions before disasters become severe.</a:t>
            </a:r>
            <a:endParaRPr lang="en-US" sz="1150" dirty="0"/>
          </a:p>
        </p:txBody>
      </p:sp>
      <p:sp>
        <p:nvSpPr>
          <p:cNvPr id="35" name="Rectangle 34"/>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81368" y="664170"/>
            <a:ext cx="5891958" cy="3928070"/>
          </a:xfrm>
          <a:prstGeom prst="rect">
            <a:avLst/>
          </a:prstGeom>
        </p:spPr>
      </p:pic>
      <p:sp>
        <p:nvSpPr>
          <p:cNvPr id="3" name="Text 0"/>
          <p:cNvSpPr/>
          <p:nvPr/>
        </p:nvSpPr>
        <p:spPr>
          <a:xfrm>
            <a:off x="7979171" y="1743670"/>
            <a:ext cx="3557300" cy="972741"/>
          </a:xfrm>
          <a:prstGeom prst="rect">
            <a:avLst/>
          </a:prstGeom>
          <a:noFill/>
        </p:spPr>
        <p:txBody>
          <a:bodyPr wrap="square" lIns="0" tIns="0" rIns="0" bIns="0" rtlCol="0" anchor="t">
            <a:normAutofit/>
          </a:bodyPr>
          <a:lstStyle/>
          <a:p>
            <a:pPr marL="0" indent="0" algn="l">
              <a:lnSpc>
                <a:spcPct val="104000"/>
              </a:lnSpc>
              <a:buNone/>
            </a:pPr>
            <a:r>
              <a:rPr lang="en-US" sz="3050" dirty="0">
                <a:solidFill>
                  <a:srgbClr val="152D47"/>
                </a:solidFill>
                <a:latin typeface="Crimson Pro SemiBold" pitchFamily="34" charset="0"/>
                <a:ea typeface="Crimson Pro SemiBold" pitchFamily="34" charset="-122"/>
                <a:cs typeface="Crimson Pro SemiBold" pitchFamily="34" charset="-120"/>
              </a:rPr>
              <a:t>Challenges and Limitations</a:t>
            </a:r>
            <a:endParaRPr lang="en-US" sz="3050" dirty="0"/>
          </a:p>
        </p:txBody>
      </p:sp>
      <p:sp>
        <p:nvSpPr>
          <p:cNvPr id="4" name="Text 1"/>
          <p:cNvSpPr/>
          <p:nvPr/>
        </p:nvSpPr>
        <p:spPr>
          <a:xfrm>
            <a:off x="7979171" y="2844502"/>
            <a:ext cx="3557300" cy="681038"/>
          </a:xfrm>
          <a:prstGeom prst="rect">
            <a:avLst/>
          </a:prstGeom>
          <a:noFill/>
        </p:spPr>
        <p:txBody>
          <a:bodyPr wrap="square" lIns="0" tIns="0" rIns="0" bIns="0" rtlCol="0" anchor="t">
            <a:normAutofit/>
          </a:bodyPr>
          <a:lstStyle/>
          <a:p>
            <a:pPr marL="0" indent="0" algn="l">
              <a:lnSpc>
                <a:spcPct val="122000"/>
              </a:lnSpc>
              <a:buNone/>
            </a:pPr>
            <a:r>
              <a:rPr lang="en-US" sz="1200" dirty="0">
                <a:solidFill>
                  <a:srgbClr val="4C4C4D"/>
                </a:solidFill>
                <a:latin typeface="Heebo" pitchFamily="34" charset="0"/>
                <a:ea typeface="Heebo" pitchFamily="34" charset="-122"/>
                <a:cs typeface="Heebo" pitchFamily="34" charset="-120"/>
              </a:rPr>
              <a:t>Despite these challenges, continuous technological advancements are making AI-based disaster systems more reliable and accessible.</a:t>
            </a:r>
            <a:endParaRPr lang="en-US" sz="1200" dirty="0"/>
          </a:p>
        </p:txBody>
      </p:sp>
      <p:sp>
        <p:nvSpPr>
          <p:cNvPr id="5" name="Text 2"/>
          <p:cNvSpPr/>
          <p:nvPr/>
        </p:nvSpPr>
        <p:spPr>
          <a:xfrm>
            <a:off x="1139697" y="4934049"/>
            <a:ext cx="4876083" cy="243185"/>
          </a:xfrm>
          <a:prstGeom prst="rect">
            <a:avLst/>
          </a:prstGeom>
          <a:noFill/>
        </p:spPr>
        <p:txBody>
          <a:bodyPr wrap="none" lIns="0" tIns="0" rIns="0" bIns="0" rtlCol="0" anchor="t"/>
          <a:lstStyle/>
          <a:p>
            <a:pPr marL="0" indent="0" algn="l">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High Implementation Cost</a:t>
            </a:r>
            <a:endParaRPr lang="en-US" sz="1500" dirty="0"/>
          </a:p>
        </p:txBody>
      </p:sp>
      <p:sp>
        <p:nvSpPr>
          <p:cNvPr id="6" name="Text 3"/>
          <p:cNvSpPr/>
          <p:nvPr/>
        </p:nvSpPr>
        <p:spPr>
          <a:xfrm>
            <a:off x="1139697" y="5254129"/>
            <a:ext cx="4876083" cy="227013"/>
          </a:xfrm>
          <a:prstGeom prst="rect">
            <a:avLst/>
          </a:prstGeom>
          <a:noFill/>
        </p:spPr>
        <p:txBody>
          <a:bodyPr wrap="none" lIns="0" tIns="0" rIns="0" bIns="0" rtlCol="0" anchor="t"/>
          <a:lstStyle/>
          <a:p>
            <a:pPr marL="0" indent="0" algn="l">
              <a:lnSpc>
                <a:spcPct val="122000"/>
              </a:lnSpc>
              <a:buNone/>
            </a:pPr>
            <a:r>
              <a:rPr lang="en-US" sz="1200" dirty="0">
                <a:solidFill>
                  <a:srgbClr val="4C4C4D"/>
                </a:solidFill>
                <a:latin typeface="Heebo" pitchFamily="34" charset="0"/>
                <a:ea typeface="Heebo" pitchFamily="34" charset="-122"/>
                <a:cs typeface="Heebo" pitchFamily="34" charset="-120"/>
              </a:rPr>
              <a:t>Significant investment required for infrastructure and deployment</a:t>
            </a:r>
            <a:endParaRPr lang="en-US" sz="1200" dirty="0"/>
          </a:p>
        </p:txBody>
      </p:sp>
      <p:sp>
        <p:nvSpPr>
          <p:cNvPr id="7" name="Text 4"/>
          <p:cNvSpPr/>
          <p:nvPr/>
        </p:nvSpPr>
        <p:spPr>
          <a:xfrm>
            <a:off x="6654137" y="4934049"/>
            <a:ext cx="4876083" cy="243185"/>
          </a:xfrm>
          <a:prstGeom prst="rect">
            <a:avLst/>
          </a:prstGeom>
          <a:noFill/>
        </p:spPr>
        <p:txBody>
          <a:bodyPr wrap="none" lIns="0" tIns="0" rIns="0" bIns="0" rtlCol="0" anchor="t"/>
          <a:lstStyle/>
          <a:p>
            <a:pPr marL="0" indent="0" algn="l">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Large Dataset Requirements</a:t>
            </a:r>
            <a:endParaRPr lang="en-US" sz="1500" dirty="0"/>
          </a:p>
        </p:txBody>
      </p:sp>
      <p:sp>
        <p:nvSpPr>
          <p:cNvPr id="8" name="Text 5"/>
          <p:cNvSpPr/>
          <p:nvPr/>
        </p:nvSpPr>
        <p:spPr>
          <a:xfrm>
            <a:off x="6654137" y="5254129"/>
            <a:ext cx="4876083" cy="227013"/>
          </a:xfrm>
          <a:prstGeom prst="rect">
            <a:avLst/>
          </a:prstGeom>
          <a:noFill/>
        </p:spPr>
        <p:txBody>
          <a:bodyPr wrap="none" lIns="0" tIns="0" rIns="0" bIns="0" rtlCol="0" anchor="t"/>
          <a:lstStyle/>
          <a:p>
            <a:pPr marL="0" indent="0" algn="l">
              <a:lnSpc>
                <a:spcPct val="122000"/>
              </a:lnSpc>
              <a:buNone/>
            </a:pPr>
            <a:r>
              <a:rPr lang="en-US" sz="1200" dirty="0">
                <a:solidFill>
                  <a:srgbClr val="4C4C4D"/>
                </a:solidFill>
                <a:latin typeface="Heebo" pitchFamily="34" charset="0"/>
                <a:ea typeface="Heebo" pitchFamily="34" charset="-122"/>
                <a:cs typeface="Heebo" pitchFamily="34" charset="-120"/>
              </a:rPr>
              <a:t>AI models depend on extensive historical data for training</a:t>
            </a:r>
            <a:endParaRPr lang="en-US" sz="1200" dirty="0"/>
          </a:p>
        </p:txBody>
      </p:sp>
      <p:sp>
        <p:nvSpPr>
          <p:cNvPr id="9" name="Text 6"/>
          <p:cNvSpPr/>
          <p:nvPr/>
        </p:nvSpPr>
        <p:spPr>
          <a:xfrm>
            <a:off x="1139697" y="5790902"/>
            <a:ext cx="4876083" cy="243185"/>
          </a:xfrm>
          <a:prstGeom prst="rect">
            <a:avLst/>
          </a:prstGeom>
          <a:noFill/>
        </p:spPr>
        <p:txBody>
          <a:bodyPr wrap="none" lIns="0" tIns="0" rIns="0" bIns="0" rtlCol="0" anchor="t"/>
          <a:lstStyle/>
          <a:p>
            <a:pPr marL="0" indent="0" algn="l">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Connectivity &amp; Sensor Issues</a:t>
            </a:r>
            <a:endParaRPr lang="en-US" sz="1500" dirty="0"/>
          </a:p>
        </p:txBody>
      </p:sp>
      <p:sp>
        <p:nvSpPr>
          <p:cNvPr id="10" name="Text 7"/>
          <p:cNvSpPr/>
          <p:nvPr/>
        </p:nvSpPr>
        <p:spPr>
          <a:xfrm>
            <a:off x="1139697" y="6110982"/>
            <a:ext cx="4876083" cy="227013"/>
          </a:xfrm>
          <a:prstGeom prst="rect">
            <a:avLst/>
          </a:prstGeom>
          <a:noFill/>
        </p:spPr>
        <p:txBody>
          <a:bodyPr wrap="none" lIns="0" tIns="0" rIns="0" bIns="0" rtlCol="0" anchor="t"/>
          <a:lstStyle/>
          <a:p>
            <a:pPr marL="0" indent="0" algn="l">
              <a:lnSpc>
                <a:spcPct val="122000"/>
              </a:lnSpc>
              <a:buNone/>
            </a:pPr>
            <a:r>
              <a:rPr lang="en-US" sz="1200" dirty="0">
                <a:solidFill>
                  <a:srgbClr val="4C4C4D"/>
                </a:solidFill>
                <a:latin typeface="Heebo" pitchFamily="34" charset="0"/>
                <a:ea typeface="Heebo" pitchFamily="34" charset="-122"/>
                <a:cs typeface="Heebo" pitchFamily="34" charset="-120"/>
              </a:rPr>
              <a:t>Dependence on internet connectivity and risk of sensor failures</a:t>
            </a:r>
            <a:endParaRPr lang="en-US" sz="1200" dirty="0"/>
          </a:p>
        </p:txBody>
      </p:sp>
      <p:sp>
        <p:nvSpPr>
          <p:cNvPr id="11" name="Text 8"/>
          <p:cNvSpPr/>
          <p:nvPr/>
        </p:nvSpPr>
        <p:spPr>
          <a:xfrm>
            <a:off x="6654137" y="5790902"/>
            <a:ext cx="4876083" cy="243185"/>
          </a:xfrm>
          <a:prstGeom prst="rect">
            <a:avLst/>
          </a:prstGeom>
          <a:noFill/>
        </p:spPr>
        <p:txBody>
          <a:bodyPr wrap="none" lIns="0" tIns="0" rIns="0" bIns="0" rtlCol="0" anchor="t"/>
          <a:lstStyle/>
          <a:p>
            <a:pPr marL="0" indent="0" algn="l">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False Alarms &amp; Privacy</a:t>
            </a:r>
            <a:endParaRPr lang="en-US" sz="1500" dirty="0"/>
          </a:p>
        </p:txBody>
      </p:sp>
      <p:sp>
        <p:nvSpPr>
          <p:cNvPr id="12" name="Text 9"/>
          <p:cNvSpPr/>
          <p:nvPr/>
        </p:nvSpPr>
        <p:spPr>
          <a:xfrm>
            <a:off x="6654137" y="6110982"/>
            <a:ext cx="4876083" cy="227013"/>
          </a:xfrm>
          <a:prstGeom prst="rect">
            <a:avLst/>
          </a:prstGeom>
          <a:noFill/>
        </p:spPr>
        <p:txBody>
          <a:bodyPr wrap="none" lIns="0" tIns="0" rIns="0" bIns="0" rtlCol="0" anchor="t"/>
          <a:lstStyle/>
          <a:p>
            <a:pPr marL="0" indent="0" algn="l">
              <a:lnSpc>
                <a:spcPct val="122000"/>
              </a:lnSpc>
              <a:buNone/>
            </a:pPr>
            <a:r>
              <a:rPr lang="en-US" sz="1200" dirty="0">
                <a:solidFill>
                  <a:srgbClr val="4C4C4D"/>
                </a:solidFill>
                <a:latin typeface="Heebo" pitchFamily="34" charset="0"/>
                <a:ea typeface="Heebo" pitchFamily="34" charset="-122"/>
                <a:cs typeface="Heebo" pitchFamily="34" charset="-120"/>
              </a:rPr>
              <a:t>Risk of false alarms and data privacy and security concerns</a:t>
            </a:r>
            <a:endParaRPr lang="en-US" sz="1200" dirty="0"/>
          </a:p>
        </p:txBody>
      </p:sp>
      <p:sp>
        <p:nvSpPr>
          <p:cNvPr id="19" name="Rectangle 18"/>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b="16472"/>
          <a:stretch>
            <a:fillRect/>
          </a:stretch>
        </p:blipFill>
        <p:spPr>
          <a:xfrm>
            <a:off x="7620000" y="0"/>
            <a:ext cx="4572000" cy="6858635"/>
          </a:xfrm>
          <a:prstGeom prst="rect">
            <a:avLst/>
          </a:prstGeom>
        </p:spPr>
      </p:pic>
      <p:sp>
        <p:nvSpPr>
          <p:cNvPr id="3" name="Text 0"/>
          <p:cNvSpPr/>
          <p:nvPr/>
        </p:nvSpPr>
        <p:spPr>
          <a:xfrm>
            <a:off x="661475" y="569317"/>
            <a:ext cx="6296860" cy="561181"/>
          </a:xfrm>
          <a:prstGeom prst="rect">
            <a:avLst/>
          </a:prstGeom>
          <a:noFill/>
        </p:spPr>
        <p:txBody>
          <a:bodyPr wrap="none" lIns="0" tIns="0" rIns="0" bIns="0" rtlCol="0" anchor="t"/>
          <a:lstStyle/>
          <a:p>
            <a:pPr marL="0" indent="0" algn="l">
              <a:lnSpc>
                <a:spcPct val="104000"/>
              </a:lnSpc>
              <a:buNone/>
            </a:pPr>
            <a:r>
              <a:rPr lang="en-US" sz="3500" dirty="0">
                <a:solidFill>
                  <a:srgbClr val="152D47"/>
                </a:solidFill>
                <a:latin typeface="Crimson Pro SemiBold" pitchFamily="34" charset="0"/>
                <a:ea typeface="Crimson Pro SemiBold" pitchFamily="34" charset="-122"/>
                <a:cs typeface="Crimson Pro SemiBold" pitchFamily="34" charset="-120"/>
              </a:rPr>
              <a:t>Conclusion</a:t>
            </a:r>
            <a:endParaRPr lang="en-US" sz="3500" dirty="0"/>
          </a:p>
        </p:txBody>
      </p:sp>
      <p:sp>
        <p:nvSpPr>
          <p:cNvPr id="4" name="Text 1"/>
          <p:cNvSpPr/>
          <p:nvPr/>
        </p:nvSpPr>
        <p:spPr>
          <a:xfrm>
            <a:off x="661475" y="1386384"/>
            <a:ext cx="6296860" cy="1400473"/>
          </a:xfrm>
          <a:prstGeom prst="rect">
            <a:avLst/>
          </a:prstGeom>
          <a:noFill/>
        </p:spPr>
        <p:txBody>
          <a:bodyPr wrap="square" lIns="0" tIns="0" rIns="0" bIns="0" rtlCol="0" anchor="t">
            <a:normAutofit/>
          </a:bodyPr>
          <a:lstStyle/>
          <a:p>
            <a:pPr marL="0" indent="0" algn="l">
              <a:lnSpc>
                <a:spcPct val="130000"/>
              </a:lnSpc>
              <a:buNone/>
            </a:pPr>
            <a:r>
              <a:rPr lang="en-US" sz="1400" dirty="0">
                <a:solidFill>
                  <a:srgbClr val="4C4C4D"/>
                </a:solidFill>
                <a:latin typeface="Heebo" pitchFamily="34" charset="0"/>
                <a:ea typeface="Heebo" pitchFamily="34" charset="-122"/>
                <a:cs typeface="Heebo" pitchFamily="34" charset="-120"/>
              </a:rPr>
              <a:t>AI-Based Disaster Detection Systems play a crucial role in modern disaster management by providing early warnings, real-time monitoring, and accurate predictions. By combining technologies such as Machine Learning, Deep Learning, Computer Vision, and IoT sensors, these systems help reduce the impact of disasters on society.</a:t>
            </a:r>
            <a:endParaRPr lang="en-US" sz="1400" dirty="0"/>
          </a:p>
        </p:txBody>
      </p:sp>
      <p:sp>
        <p:nvSpPr>
          <p:cNvPr id="5" name="Shape 2"/>
          <p:cNvSpPr/>
          <p:nvPr/>
        </p:nvSpPr>
        <p:spPr>
          <a:xfrm>
            <a:off x="661475" y="2978745"/>
            <a:ext cx="6296860" cy="2557859"/>
          </a:xfrm>
          <a:prstGeom prst="roundRect">
            <a:avLst>
              <a:gd name="adj" fmla="val 1053"/>
            </a:avLst>
          </a:prstGeom>
          <a:solidFill>
            <a:srgbClr val="F2EEEE"/>
          </a:solidFill>
        </p:spPr>
      </p:sp>
      <p:sp>
        <p:nvSpPr>
          <p:cNvPr id="6" name="Shape 3"/>
          <p:cNvSpPr/>
          <p:nvPr/>
        </p:nvSpPr>
        <p:spPr>
          <a:xfrm>
            <a:off x="661475" y="2978745"/>
            <a:ext cx="6296860" cy="639465"/>
          </a:xfrm>
          <a:custGeom>
            <a:avLst/>
            <a:gdLst/>
            <a:ahLst/>
            <a:cxnLst/>
            <a:rect l="l" t="t" r="r" b="b"/>
            <a:pathLst>
              <a:path w="6296860" h="639465">
                <a:moveTo>
                  <a:pt x="22446" y="0"/>
                </a:moveTo>
                <a:lnTo>
                  <a:pt x="6274414" y="0"/>
                </a:lnTo>
                <a:arcTo wR="22446" hR="22446" stAng="16200000" swAng="5400000"/>
                <a:lnTo>
                  <a:pt x="6296860" y="639465"/>
                </a:lnTo>
                <a:lnTo>
                  <a:pt x="0" y="639465"/>
                </a:lnTo>
                <a:lnTo>
                  <a:pt x="0" y="22446"/>
                </a:lnTo>
                <a:arcTo wR="22446" hR="22446" stAng="10800000" swAng="5400000"/>
                <a:close/>
              </a:path>
            </a:pathLst>
          </a:custGeom>
          <a:solidFill>
            <a:srgbClr val="F2EEEE"/>
          </a:solidFill>
        </p:spPr>
      </p:sp>
      <p:sp>
        <p:nvSpPr>
          <p:cNvPr id="7" name="Text 4"/>
          <p:cNvSpPr/>
          <p:nvPr/>
        </p:nvSpPr>
        <p:spPr>
          <a:xfrm>
            <a:off x="840957" y="3158232"/>
            <a:ext cx="5937895" cy="280491"/>
          </a:xfrm>
          <a:prstGeom prst="rect">
            <a:avLst/>
          </a:prstGeom>
          <a:noFill/>
        </p:spPr>
        <p:txBody>
          <a:bodyPr wrap="none" lIns="0" tIns="0" rIns="0" bIns="0" rtlCol="0" anchor="t"/>
          <a:lstStyle/>
          <a:p>
            <a:pPr marL="0" indent="0" algn="l">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Machine Learning</a:t>
            </a:r>
            <a:endParaRPr lang="en-US" sz="1750" dirty="0"/>
          </a:p>
        </p:txBody>
      </p:sp>
      <p:sp>
        <p:nvSpPr>
          <p:cNvPr id="8" name="Shape 5"/>
          <p:cNvSpPr/>
          <p:nvPr/>
        </p:nvSpPr>
        <p:spPr>
          <a:xfrm>
            <a:off x="661475" y="3618210"/>
            <a:ext cx="6296860" cy="639465"/>
          </a:xfrm>
          <a:prstGeom prst="rect">
            <a:avLst/>
          </a:prstGeom>
          <a:solidFill>
            <a:srgbClr val="F2EEEE"/>
          </a:solidFill>
        </p:spPr>
      </p:sp>
      <p:sp>
        <p:nvSpPr>
          <p:cNvPr id="9" name="Shape 6"/>
          <p:cNvSpPr/>
          <p:nvPr/>
        </p:nvSpPr>
        <p:spPr>
          <a:xfrm>
            <a:off x="661475" y="3618210"/>
            <a:ext cx="6296860" cy="25400"/>
          </a:xfrm>
          <a:prstGeom prst="roundRect">
            <a:avLst>
              <a:gd name="adj" fmla="val 49999"/>
            </a:avLst>
          </a:prstGeom>
          <a:solidFill>
            <a:srgbClr val="D8D4D4"/>
          </a:solidFill>
        </p:spPr>
      </p:sp>
      <p:sp>
        <p:nvSpPr>
          <p:cNvPr id="10" name="Text 7"/>
          <p:cNvSpPr/>
          <p:nvPr/>
        </p:nvSpPr>
        <p:spPr>
          <a:xfrm>
            <a:off x="840957" y="3797697"/>
            <a:ext cx="5937895" cy="280491"/>
          </a:xfrm>
          <a:prstGeom prst="rect">
            <a:avLst/>
          </a:prstGeom>
          <a:noFill/>
        </p:spPr>
        <p:txBody>
          <a:bodyPr wrap="none" lIns="0" tIns="0" rIns="0" bIns="0" rtlCol="0" anchor="t"/>
          <a:lstStyle/>
          <a:p>
            <a:pPr marL="0" indent="0" algn="l">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Deep Learning</a:t>
            </a:r>
            <a:endParaRPr lang="en-US" sz="1750" dirty="0"/>
          </a:p>
        </p:txBody>
      </p:sp>
      <p:sp>
        <p:nvSpPr>
          <p:cNvPr id="11" name="Shape 8"/>
          <p:cNvSpPr/>
          <p:nvPr/>
        </p:nvSpPr>
        <p:spPr>
          <a:xfrm>
            <a:off x="661475" y="4257675"/>
            <a:ext cx="6296860" cy="639465"/>
          </a:xfrm>
          <a:prstGeom prst="rect">
            <a:avLst/>
          </a:prstGeom>
          <a:solidFill>
            <a:srgbClr val="F2EEEE"/>
          </a:solidFill>
        </p:spPr>
      </p:sp>
      <p:sp>
        <p:nvSpPr>
          <p:cNvPr id="12" name="Shape 9"/>
          <p:cNvSpPr/>
          <p:nvPr/>
        </p:nvSpPr>
        <p:spPr>
          <a:xfrm>
            <a:off x="661475" y="4257675"/>
            <a:ext cx="6296860" cy="25400"/>
          </a:xfrm>
          <a:prstGeom prst="roundRect">
            <a:avLst>
              <a:gd name="adj" fmla="val 49999"/>
            </a:avLst>
          </a:prstGeom>
          <a:solidFill>
            <a:srgbClr val="D8D4D4"/>
          </a:solidFill>
        </p:spPr>
      </p:sp>
      <p:sp>
        <p:nvSpPr>
          <p:cNvPr id="13" name="Text 10"/>
          <p:cNvSpPr/>
          <p:nvPr/>
        </p:nvSpPr>
        <p:spPr>
          <a:xfrm>
            <a:off x="840957" y="4437162"/>
            <a:ext cx="5937895" cy="280491"/>
          </a:xfrm>
          <a:prstGeom prst="rect">
            <a:avLst/>
          </a:prstGeom>
          <a:noFill/>
        </p:spPr>
        <p:txBody>
          <a:bodyPr wrap="none" lIns="0" tIns="0" rIns="0" bIns="0" rtlCol="0" anchor="t"/>
          <a:lstStyle/>
          <a:p>
            <a:pPr marL="0" indent="0" algn="l">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Computer Vision</a:t>
            </a:r>
            <a:endParaRPr lang="en-US" sz="1750" dirty="0"/>
          </a:p>
        </p:txBody>
      </p:sp>
      <p:sp>
        <p:nvSpPr>
          <p:cNvPr id="14" name="Shape 11"/>
          <p:cNvSpPr/>
          <p:nvPr/>
        </p:nvSpPr>
        <p:spPr>
          <a:xfrm>
            <a:off x="661475" y="4897140"/>
            <a:ext cx="6296860" cy="639465"/>
          </a:xfrm>
          <a:custGeom>
            <a:avLst/>
            <a:gdLst/>
            <a:ahLst/>
            <a:cxnLst/>
            <a:rect l="l" t="t" r="r" b="b"/>
            <a:pathLst>
              <a:path w="6296860" h="639465">
                <a:moveTo>
                  <a:pt x="0" y="0"/>
                </a:moveTo>
                <a:lnTo>
                  <a:pt x="6296860" y="0"/>
                </a:lnTo>
                <a:lnTo>
                  <a:pt x="6296860" y="617018"/>
                </a:lnTo>
                <a:arcTo wR="22446" hR="22446" stAng="0" swAng="5400000"/>
                <a:lnTo>
                  <a:pt x="22446" y="639465"/>
                </a:lnTo>
                <a:arcTo wR="22446" hR="22446" stAng="5400000" swAng="5400000"/>
                <a:lnTo>
                  <a:pt x="0" y="0"/>
                </a:lnTo>
                <a:close/>
              </a:path>
            </a:pathLst>
          </a:custGeom>
          <a:solidFill>
            <a:srgbClr val="F2EEEE"/>
          </a:solidFill>
        </p:spPr>
      </p:sp>
      <p:sp>
        <p:nvSpPr>
          <p:cNvPr id="15" name="Shape 12"/>
          <p:cNvSpPr/>
          <p:nvPr/>
        </p:nvSpPr>
        <p:spPr>
          <a:xfrm>
            <a:off x="661475" y="4897140"/>
            <a:ext cx="6296860" cy="25400"/>
          </a:xfrm>
          <a:prstGeom prst="roundRect">
            <a:avLst>
              <a:gd name="adj" fmla="val 49999"/>
            </a:avLst>
          </a:prstGeom>
          <a:solidFill>
            <a:srgbClr val="D8D4D4"/>
          </a:solidFill>
        </p:spPr>
      </p:sp>
      <p:sp>
        <p:nvSpPr>
          <p:cNvPr id="16" name="Text 13"/>
          <p:cNvSpPr/>
          <p:nvPr/>
        </p:nvSpPr>
        <p:spPr>
          <a:xfrm>
            <a:off x="840957" y="5076627"/>
            <a:ext cx="5937895" cy="280491"/>
          </a:xfrm>
          <a:prstGeom prst="rect">
            <a:avLst/>
          </a:prstGeom>
          <a:noFill/>
        </p:spPr>
        <p:txBody>
          <a:bodyPr wrap="none" lIns="0" tIns="0" rIns="0" bIns="0" rtlCol="0" anchor="t"/>
          <a:lstStyle/>
          <a:p>
            <a:pPr marL="0" indent="0" algn="l">
              <a:lnSpc>
                <a:spcPct val="104000"/>
              </a:lnSpc>
              <a:buNone/>
            </a:pPr>
            <a:r>
              <a:rPr lang="en-US" sz="1750" dirty="0">
                <a:solidFill>
                  <a:srgbClr val="4C4C4D"/>
                </a:solidFill>
                <a:latin typeface="Crimson Pro SemiBold" pitchFamily="34" charset="0"/>
                <a:ea typeface="Crimson Pro SemiBold" pitchFamily="34" charset="-122"/>
                <a:cs typeface="Crimson Pro SemiBold" pitchFamily="34" charset="-120"/>
              </a:rPr>
              <a:t>IoT Sensors</a:t>
            </a:r>
            <a:endParaRPr lang="en-US" sz="1750" dirty="0"/>
          </a:p>
        </p:txBody>
      </p:sp>
      <p:sp>
        <p:nvSpPr>
          <p:cNvPr id="17" name="Text 14"/>
          <p:cNvSpPr/>
          <p:nvPr/>
        </p:nvSpPr>
        <p:spPr>
          <a:xfrm>
            <a:off x="661475" y="5728494"/>
            <a:ext cx="6296860" cy="560189"/>
          </a:xfrm>
          <a:prstGeom prst="rect">
            <a:avLst/>
          </a:prstGeom>
          <a:noFill/>
        </p:spPr>
        <p:txBody>
          <a:bodyPr wrap="square" lIns="0" tIns="0" rIns="0" bIns="0" rtlCol="0" anchor="t">
            <a:normAutofit/>
          </a:bodyPr>
          <a:lstStyle/>
          <a:p>
            <a:pPr marL="0" indent="0" algn="l">
              <a:lnSpc>
                <a:spcPct val="130000"/>
              </a:lnSpc>
              <a:buNone/>
            </a:pPr>
            <a:r>
              <a:rPr lang="en-US" sz="1400" dirty="0">
                <a:solidFill>
                  <a:srgbClr val="4C4C4D"/>
                </a:solidFill>
                <a:latin typeface="Heebo" pitchFamily="34" charset="0"/>
                <a:ea typeface="Heebo" pitchFamily="34" charset="-122"/>
                <a:cs typeface="Heebo" pitchFamily="34" charset="-120"/>
              </a:rPr>
              <a:t>As AI technology continues to evolve, disaster detection systems will become more intelligent, efficient, and capable of </a:t>
            </a:r>
            <a:r>
              <a:rPr lang="en-US" sz="1400" b="1" dirty="0">
                <a:solidFill>
                  <a:srgbClr val="4C4C4D"/>
                </a:solidFill>
                <a:latin typeface="Heebo Bold" pitchFamily="34" charset="0"/>
                <a:ea typeface="Heebo Bold" pitchFamily="34" charset="-122"/>
                <a:cs typeface="Heebo Bold" pitchFamily="34" charset="-120"/>
              </a:rPr>
              <a:t>protecting communities worldwide.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WhatsApp Image 2026-08-29 at 2.04.21 PM"/>
          <p:cNvPicPr>
            <a:picLocks noChangeAspect="1"/>
          </p:cNvPicPr>
          <p:nvPr/>
        </p:nvPicPr>
        <p:blipFill>
          <a:blip r:embed="rId1"/>
          <a:stretch>
            <a:fillRect/>
          </a:stretch>
        </p:blipFill>
        <p:spPr>
          <a:xfrm>
            <a:off x="2124710" y="794385"/>
            <a:ext cx="8229600" cy="5692140"/>
          </a:xfrm>
          <a:prstGeom prst="rect">
            <a:avLst/>
          </a:prstGeom>
        </p:spPr>
      </p:pic>
      <p:sp>
        <p:nvSpPr>
          <p:cNvPr id="19" name="Rectangle 18"/>
          <p:cNvSpPr/>
          <p:nvPr/>
        </p:nvSpPr>
        <p:spPr>
          <a:xfrm>
            <a:off x="11044555" y="6489065"/>
            <a:ext cx="1095375" cy="31432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4098</Words>
  <Application>WPS Presentation</Application>
  <PresentationFormat>On-screen Show (16:9)</PresentationFormat>
  <Paragraphs>189</Paragraphs>
  <Slides>11</Slides>
  <Notes>10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11</vt:i4>
      </vt:variant>
    </vt:vector>
  </HeadingPairs>
  <TitlesOfParts>
    <vt:vector size="32" baseType="lpstr">
      <vt:lpstr>Arial</vt:lpstr>
      <vt:lpstr>SimSun</vt:lpstr>
      <vt:lpstr>Wingdings</vt:lpstr>
      <vt:lpstr>Crimson Pro SemiBold</vt:lpstr>
      <vt:lpstr>Crimson Pro SemiBold</vt:lpstr>
      <vt:lpstr>Crimson Pro SemiBold</vt:lpstr>
      <vt:lpstr>Heebo Bold</vt:lpstr>
      <vt:lpstr>Heebo Bold</vt:lpstr>
      <vt:lpstr>Heebo Bold</vt:lpstr>
      <vt:lpstr>Heebo</vt:lpstr>
      <vt:lpstr>Heebo</vt:lpstr>
      <vt:lpstr>Heebo</vt:lpstr>
      <vt:lpstr>Twemoji Mozilla</vt:lpstr>
      <vt:lpstr>Segoe Print</vt:lpstr>
      <vt:lpstr>Twemoji Mozilla</vt:lpstr>
      <vt:lpstr>Twemoji Mozilla</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Sanjanaa Sree</cp:lastModifiedBy>
  <cp:revision>4</cp:revision>
  <dcterms:created xsi:type="dcterms:W3CDTF">2026-08-26T14:25:00Z</dcterms:created>
  <dcterms:modified xsi:type="dcterms:W3CDTF">2026-08-29T08:37:28Z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E33DCF273C744B4EAABF2D99ABAA121B_13</vt:lpwstr>
  </property>
  <property fmtid="{D5CDD505-2E9C-101B-9397-08002B2CF9AE}" pid="3" name="KSOProductBuildVer">
    <vt:lpwstr>1033-12.1.0.28485</vt:lpwstr>
  </property>
</Properties>
</file>